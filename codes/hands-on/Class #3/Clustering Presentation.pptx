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5CF511-E574-49F7-879F-DA0F1DD7219E}">
  <a:tblStyle styleId="{EC5CF511-E574-49F7-879F-DA0F1DD7219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409abcf11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409abcf11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409abcf118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09abcf118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  is the process of sorting similar items into groups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409abcf118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409abcf118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Unknown sample (Lane 6) indeed shows a visible reduction in the top band (HuR) compared to the equivalent 10μg control (Lane 5).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409abcf1187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409abcf1187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Unknown sample (Lane 6) indeed shows a visible reduction in the top band (HuR) compared to the equivalent 10μg control (Lane 5).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409abcf1187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409abcf1187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Unknown sample (Lane 6) indeed shows a visible reduction in the top band (HuR) compared to the equivalent 10μg control (Lane 5).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409abcf118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409abcf118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The algorithm constantly looks for the two closest </a:t>
            </a:r>
            <a:r>
              <a:rPr b="1" lang="en">
                <a:solidFill>
                  <a:schemeClr val="dk1"/>
                </a:solidFill>
              </a:rPr>
              <a:t>items</a:t>
            </a:r>
            <a:r>
              <a:rPr lang="en">
                <a:solidFill>
                  <a:schemeClr val="dk1"/>
                </a:solidFill>
              </a:rPr>
              <a:t> (whether they are individual points or already-formed groups) and merges them together into a new branch, repeating this until everything is connected."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409abcf1187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409abcf1187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The algorithm constantly looks for the two closest </a:t>
            </a:r>
            <a:r>
              <a:rPr b="1" lang="en">
                <a:solidFill>
                  <a:schemeClr val="dk1"/>
                </a:solidFill>
              </a:rPr>
              <a:t>items</a:t>
            </a:r>
            <a:r>
              <a:rPr lang="en">
                <a:solidFill>
                  <a:schemeClr val="dk1"/>
                </a:solidFill>
              </a:rPr>
              <a:t> (whether they are individual points or already-formed groups) and merges them together into a new branch, repeating this until everything is connected."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409abcf118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409abcf118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Since we hid the labels (Earth vs. Venus) from the algorithm, it only grouped samples based on raw gene expression. Because the planets are mixed across the branches, it proves that </a:t>
            </a:r>
            <a:r>
              <a:rPr b="1" lang="en">
                <a:solidFill>
                  <a:schemeClr val="dk1"/>
                </a:solidFill>
              </a:rPr>
              <a:t>the planet of origin is not the main biological factor driving the differences in these samples.</a:t>
            </a:r>
            <a:r>
              <a:rPr lang="en">
                <a:solidFill>
                  <a:schemeClr val="dk1"/>
                </a:solidFill>
              </a:rPr>
              <a:t> This tells the researcher they need to look for a different hidden variable. Perhaps half of these samples (across both planets) were exposed to a specific disease or a temperature change, and </a:t>
            </a:r>
            <a:r>
              <a:rPr i="1" lang="en">
                <a:solidFill>
                  <a:schemeClr val="dk1"/>
                </a:solidFill>
              </a:rPr>
              <a:t>that</a:t>
            </a:r>
            <a:r>
              <a:rPr lang="en">
                <a:solidFill>
                  <a:schemeClr val="dk1"/>
                </a:solidFill>
              </a:rPr>
              <a:t> is what the clustering algorithm is actually picking up on!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09abcf1187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409abcf1187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Since we hid the labels (Earth vs. Venus) from the algorithm, it only grouped samples based on raw gene expression. Because the planets are mixed across the branches, it proves that </a:t>
            </a:r>
            <a:r>
              <a:rPr b="1" lang="en">
                <a:solidFill>
                  <a:schemeClr val="dk1"/>
                </a:solidFill>
              </a:rPr>
              <a:t>the planet of origin is not the main biological factor driving the differences in these samples.</a:t>
            </a:r>
            <a:r>
              <a:rPr lang="en">
                <a:solidFill>
                  <a:schemeClr val="dk1"/>
                </a:solidFill>
              </a:rPr>
              <a:t> This tells the researcher they need to look for a different hidden variable. Perhaps half of these samples (across both planets) were exposed to a specific disease or a temperature change, and </a:t>
            </a:r>
            <a:r>
              <a:rPr i="1" lang="en">
                <a:solidFill>
                  <a:schemeClr val="dk1"/>
                </a:solidFill>
              </a:rPr>
              <a:t>that</a:t>
            </a:r>
            <a:r>
              <a:rPr lang="en">
                <a:solidFill>
                  <a:schemeClr val="dk1"/>
                </a:solidFill>
              </a:rPr>
              <a:t> is what the clustering algorithm is actually picking up on!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09abcf118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09abcf118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409abcf118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409abcf118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09abcf1187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09abcf1187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09abcf1187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409abcf118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409abcf1187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409abcf1187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409abcf1187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409abcf1187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409abcf1187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409abcf1187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409abcf1187_2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409abcf1187_2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409abcf118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409abcf118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409abcf1187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409abcf1187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409abcf1187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409abcf1187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409abcf1187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409abcf1187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409abcf1187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409abcf1187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409abcf1187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409abcf1187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409abcf1187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409abcf1187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409abcf118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409abcf118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gif"/><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2166300" y="3217725"/>
            <a:ext cx="48114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Clr>
                <a:schemeClr val="dk1"/>
              </a:buClr>
              <a:buSzPct val="39286"/>
              <a:buFont typeface="Arial"/>
              <a:buNone/>
            </a:pPr>
            <a:r>
              <a:rPr lang="en"/>
              <a:t>David Tadeo Andrade</a:t>
            </a:r>
            <a:endParaRPr/>
          </a:p>
          <a:p>
            <a:pPr indent="0" lvl="0" marL="0" rtl="0" algn="ctr">
              <a:spcBef>
                <a:spcPts val="0"/>
              </a:spcBef>
              <a:spcAft>
                <a:spcPts val="0"/>
              </a:spcAft>
              <a:buClr>
                <a:schemeClr val="dk1"/>
              </a:buClr>
              <a:buSzPct val="39286"/>
              <a:buFont typeface="Arial"/>
              <a:buNone/>
            </a:pPr>
            <a:r>
              <a:rPr lang="en"/>
              <a:t>Alejandro Martínez Hernández</a:t>
            </a:r>
            <a:endParaRPr/>
          </a:p>
        </p:txBody>
      </p:sp>
      <p:sp>
        <p:nvSpPr>
          <p:cNvPr id="55" name="Google Shape;55;p13"/>
          <p:cNvSpPr txBox="1"/>
          <p:nvPr/>
        </p:nvSpPr>
        <p:spPr>
          <a:xfrm>
            <a:off x="0" y="1647729"/>
            <a:ext cx="9144000" cy="738900"/>
          </a:xfrm>
          <a:prstGeom prst="rect">
            <a:avLst/>
          </a:prstGeom>
          <a:solidFill>
            <a:srgbClr val="0B5394"/>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600">
                <a:solidFill>
                  <a:schemeClr val="lt1"/>
                </a:solidFill>
              </a:rPr>
              <a:t>CLUSTERING</a:t>
            </a:r>
            <a:endParaRPr b="1" sz="36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0" y="0"/>
            <a:ext cx="9144000" cy="5850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lt1"/>
                </a:solidFill>
              </a:rPr>
              <a:t>Clustering</a:t>
            </a:r>
            <a:r>
              <a:rPr b="1" lang="en" sz="2600">
                <a:solidFill>
                  <a:schemeClr val="lt1"/>
                </a:solidFill>
              </a:rPr>
              <a:t> </a:t>
            </a:r>
            <a:endParaRPr b="1" sz="2600">
              <a:solidFill>
                <a:schemeClr val="lt1"/>
              </a:solidFill>
            </a:endParaRPr>
          </a:p>
        </p:txBody>
      </p:sp>
      <p:sp>
        <p:nvSpPr>
          <p:cNvPr id="61" name="Google Shape;61;p14"/>
          <p:cNvSpPr txBox="1"/>
          <p:nvPr/>
        </p:nvSpPr>
        <p:spPr>
          <a:xfrm>
            <a:off x="1266150" y="991850"/>
            <a:ext cx="6611700" cy="1700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i="1" lang="en" sz="1800">
                <a:solidFill>
                  <a:srgbClr val="434343"/>
                </a:solidFill>
              </a:rPr>
              <a:t>"Clustering is the process of grouping a set of physical or abstract objects into classes of similar objects."</a:t>
            </a:r>
            <a:endParaRPr i="1" sz="1800">
              <a:solidFill>
                <a:srgbClr val="434343"/>
              </a:solidFill>
            </a:endParaRPr>
          </a:p>
          <a:p>
            <a:pPr indent="0" lvl="0" marL="0" rtl="0" algn="just">
              <a:lnSpc>
                <a:spcPct val="115000"/>
              </a:lnSpc>
              <a:spcBef>
                <a:spcPts val="1200"/>
              </a:spcBef>
              <a:spcAft>
                <a:spcPts val="0"/>
              </a:spcAft>
              <a:buClr>
                <a:schemeClr val="dk1"/>
              </a:buClr>
              <a:buSzPts val="1100"/>
              <a:buFont typeface="Arial"/>
              <a:buNone/>
            </a:pPr>
            <a:r>
              <a:rPr lang="en" sz="1800">
                <a:solidFill>
                  <a:srgbClr val="434343"/>
                </a:solidFill>
              </a:rPr>
              <a:t>— </a:t>
            </a:r>
            <a:r>
              <a:rPr b="1" lang="en" sz="1800">
                <a:solidFill>
                  <a:srgbClr val="434343"/>
                </a:solidFill>
              </a:rPr>
              <a:t>Jiawei Han, Micheline Kamber, and Jian Pei</a:t>
            </a:r>
            <a:r>
              <a:rPr lang="en" sz="1800">
                <a:solidFill>
                  <a:srgbClr val="434343"/>
                </a:solidFill>
              </a:rPr>
              <a:t>, </a:t>
            </a:r>
            <a:r>
              <a:rPr i="1" lang="en" sz="1800">
                <a:solidFill>
                  <a:srgbClr val="434343"/>
                </a:solidFill>
              </a:rPr>
              <a:t>Data Mining: Concepts and Techniques</a:t>
            </a:r>
            <a:r>
              <a:rPr lang="en" sz="1800">
                <a:solidFill>
                  <a:srgbClr val="434343"/>
                </a:solidFill>
              </a:rPr>
              <a:t> (Morgan Kaufmann, 2011)</a:t>
            </a:r>
            <a:endParaRPr sz="1800">
              <a:solidFill>
                <a:srgbClr val="434343"/>
              </a:solidFill>
            </a:endParaRPr>
          </a:p>
          <a:p>
            <a:pPr indent="0" lvl="0" marL="0" rtl="0" algn="just">
              <a:spcBef>
                <a:spcPts val="1200"/>
              </a:spcBef>
              <a:spcAft>
                <a:spcPts val="0"/>
              </a:spcAft>
              <a:buNone/>
            </a:pPr>
            <a:r>
              <a:t/>
            </a:r>
            <a:endParaRPr sz="1800">
              <a:solidFill>
                <a:srgbClr val="434343"/>
              </a:solidFill>
            </a:endParaRPr>
          </a:p>
        </p:txBody>
      </p:sp>
      <p:pic>
        <p:nvPicPr>
          <p:cNvPr id="62" name="Google Shape;62;p14"/>
          <p:cNvPicPr preferRelativeResize="0"/>
          <p:nvPr/>
        </p:nvPicPr>
        <p:blipFill>
          <a:blip r:embed="rId3">
            <a:alphaModFix/>
          </a:blip>
          <a:stretch>
            <a:fillRect/>
          </a:stretch>
        </p:blipFill>
        <p:spPr>
          <a:xfrm>
            <a:off x="1587800" y="2801300"/>
            <a:ext cx="3363368" cy="2146149"/>
          </a:xfrm>
          <a:prstGeom prst="rect">
            <a:avLst/>
          </a:prstGeom>
          <a:noFill/>
          <a:ln>
            <a:noFill/>
          </a:ln>
        </p:spPr>
      </p:pic>
      <p:sp>
        <p:nvSpPr>
          <p:cNvPr id="63" name="Google Shape;63;p14"/>
          <p:cNvSpPr txBox="1"/>
          <p:nvPr/>
        </p:nvSpPr>
        <p:spPr>
          <a:xfrm>
            <a:off x="4251825" y="3366475"/>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You do not know the categories.</a:t>
            </a:r>
            <a:r>
              <a:rPr lang="en" sz="1800">
                <a:solidFill>
                  <a:srgbClr val="FF0000"/>
                </a:solidFill>
              </a:rPr>
              <a:t> There are no predefined labels.</a:t>
            </a:r>
            <a:r>
              <a:rPr lang="en" sz="1800">
                <a:solidFill>
                  <a:schemeClr val="dk1"/>
                </a:solidFill>
              </a:rPr>
              <a:t>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0" y="0"/>
            <a:ext cx="9144000" cy="5850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lt1"/>
                </a:solidFill>
              </a:rPr>
              <a:t>Clustering Methods </a:t>
            </a:r>
            <a:endParaRPr b="1" sz="2600">
              <a:solidFill>
                <a:schemeClr val="lt1"/>
              </a:solidFill>
            </a:endParaRPr>
          </a:p>
        </p:txBody>
      </p:sp>
      <p:graphicFrame>
        <p:nvGraphicFramePr>
          <p:cNvPr id="69" name="Google Shape;69;p15"/>
          <p:cNvGraphicFramePr/>
          <p:nvPr/>
        </p:nvGraphicFramePr>
        <p:xfrm>
          <a:off x="269025" y="783425"/>
          <a:ext cx="3000000" cy="3000000"/>
        </p:xfrm>
        <a:graphic>
          <a:graphicData uri="http://schemas.openxmlformats.org/drawingml/2006/table">
            <a:tbl>
              <a:tblPr>
                <a:noFill/>
                <a:tableStyleId>{EC5CF511-E574-49F7-879F-DA0F1DD7219E}</a:tableStyleId>
              </a:tblPr>
              <a:tblGrid>
                <a:gridCol w="2695900"/>
                <a:gridCol w="2695900"/>
              </a:tblGrid>
              <a:tr h="1020550">
                <a:tc>
                  <a:txBody>
                    <a:bodyPr/>
                    <a:lstStyle/>
                    <a:p>
                      <a:pPr indent="0" lvl="0" marL="0" rtl="0" algn="ctr">
                        <a:spcBef>
                          <a:spcPts val="0"/>
                        </a:spcBef>
                        <a:spcAft>
                          <a:spcPts val="0"/>
                        </a:spcAft>
                        <a:buNone/>
                      </a:pPr>
                      <a:r>
                        <a:rPr b="1" lang="en" sz="1800">
                          <a:solidFill>
                            <a:srgbClr val="0B5394"/>
                          </a:solidFill>
                        </a:rPr>
                        <a:t>Algorithm </a:t>
                      </a:r>
                      <a:endParaRPr b="1" sz="1800">
                        <a:solidFill>
                          <a:srgbClr val="0B5394"/>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800">
                          <a:solidFill>
                            <a:srgbClr val="0B5394"/>
                          </a:solidFill>
                        </a:rPr>
                        <a:t>Hyperparameter</a:t>
                      </a:r>
                      <a:endParaRPr b="1" sz="1800">
                        <a:solidFill>
                          <a:srgbClr val="0B5394"/>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K-Means Clustering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Partitions data into K clusters by minimizing variance within each cluster. </a:t>
                      </a:r>
                      <a:endParaRPr sz="1900">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Hierarchical Clustering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Builds a hierarchy of clusters by iteratively merging or splitting existing groups. </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DBSCAN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Forms clusters based on density; groups densely packed points and marks outliers.</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70" name="Google Shape;70;p15"/>
          <p:cNvPicPr preferRelativeResize="0"/>
          <p:nvPr/>
        </p:nvPicPr>
        <p:blipFill rotWithShape="1">
          <a:blip r:embed="rId3">
            <a:alphaModFix/>
          </a:blip>
          <a:srcRect b="15995" l="13496" r="7208" t="14158"/>
          <a:stretch/>
        </p:blipFill>
        <p:spPr>
          <a:xfrm>
            <a:off x="5766275" y="1782450"/>
            <a:ext cx="3112950" cy="2742050"/>
          </a:xfrm>
          <a:prstGeom prst="rect">
            <a:avLst/>
          </a:prstGeom>
          <a:noFill/>
          <a:ln>
            <a:noFill/>
          </a:ln>
        </p:spPr>
      </p:pic>
      <p:sp>
        <p:nvSpPr>
          <p:cNvPr id="71" name="Google Shape;71;p15"/>
          <p:cNvSpPr txBox="1"/>
          <p:nvPr/>
        </p:nvSpPr>
        <p:spPr>
          <a:xfrm>
            <a:off x="5822750" y="999075"/>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K-Means Clustering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0" y="0"/>
            <a:ext cx="9144000" cy="5850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lt1"/>
                </a:solidFill>
              </a:rPr>
              <a:t>Clustering Methods </a:t>
            </a:r>
            <a:endParaRPr b="1" sz="2600">
              <a:solidFill>
                <a:schemeClr val="lt1"/>
              </a:solidFill>
            </a:endParaRPr>
          </a:p>
        </p:txBody>
      </p:sp>
      <p:graphicFrame>
        <p:nvGraphicFramePr>
          <p:cNvPr id="77" name="Google Shape;77;p16"/>
          <p:cNvGraphicFramePr/>
          <p:nvPr/>
        </p:nvGraphicFramePr>
        <p:xfrm>
          <a:off x="269025" y="783425"/>
          <a:ext cx="3000000" cy="3000000"/>
        </p:xfrm>
        <a:graphic>
          <a:graphicData uri="http://schemas.openxmlformats.org/drawingml/2006/table">
            <a:tbl>
              <a:tblPr>
                <a:noFill/>
                <a:tableStyleId>{EC5CF511-E574-49F7-879F-DA0F1DD7219E}</a:tableStyleId>
              </a:tblPr>
              <a:tblGrid>
                <a:gridCol w="2695900"/>
                <a:gridCol w="2695900"/>
              </a:tblGrid>
              <a:tr h="1020550">
                <a:tc>
                  <a:txBody>
                    <a:bodyPr/>
                    <a:lstStyle/>
                    <a:p>
                      <a:pPr indent="0" lvl="0" marL="0" rtl="0" algn="ctr">
                        <a:spcBef>
                          <a:spcPts val="0"/>
                        </a:spcBef>
                        <a:spcAft>
                          <a:spcPts val="0"/>
                        </a:spcAft>
                        <a:buNone/>
                      </a:pPr>
                      <a:r>
                        <a:rPr b="1" lang="en" sz="1800">
                          <a:solidFill>
                            <a:srgbClr val="0B5394"/>
                          </a:solidFill>
                        </a:rPr>
                        <a:t>Algorithm </a:t>
                      </a:r>
                      <a:endParaRPr b="1" sz="1800">
                        <a:solidFill>
                          <a:srgbClr val="0B5394"/>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800">
                          <a:solidFill>
                            <a:srgbClr val="0B5394"/>
                          </a:solidFill>
                        </a:rPr>
                        <a:t>Hyperparameter</a:t>
                      </a:r>
                      <a:endParaRPr b="1" sz="1800">
                        <a:solidFill>
                          <a:srgbClr val="0B5394"/>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K-Means Clustering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Partitions data into K clusters by minimizing variance within each cluster. </a:t>
                      </a:r>
                      <a:endParaRPr sz="1900">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Hierarchical Clustering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Builds a hierarchy of clusters by iteratively merging or splitting existing groups. </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DBSCAN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Forms clusters based on density; groups densely packed points and marks outliers.</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 name="Google Shape;78;p16"/>
          <p:cNvSpPr txBox="1"/>
          <p:nvPr/>
        </p:nvSpPr>
        <p:spPr>
          <a:xfrm>
            <a:off x="5967100" y="979825"/>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Hierarchical  Clustering</a:t>
            </a:r>
            <a:endParaRPr/>
          </a:p>
        </p:txBody>
      </p:sp>
      <p:pic>
        <p:nvPicPr>
          <p:cNvPr id="79" name="Google Shape;79;p16"/>
          <p:cNvPicPr preferRelativeResize="0"/>
          <p:nvPr/>
        </p:nvPicPr>
        <p:blipFill rotWithShape="1">
          <a:blip r:embed="rId3">
            <a:alphaModFix/>
          </a:blip>
          <a:srcRect b="17253" l="10289" r="1317" t="8984"/>
          <a:stretch/>
        </p:blipFill>
        <p:spPr>
          <a:xfrm>
            <a:off x="5765050" y="1997375"/>
            <a:ext cx="3300074" cy="1887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nvSpPr>
        <p:spPr>
          <a:xfrm>
            <a:off x="0" y="0"/>
            <a:ext cx="9144000" cy="5850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lt1"/>
                </a:solidFill>
              </a:rPr>
              <a:t>Clustering Methods </a:t>
            </a:r>
            <a:endParaRPr b="1" sz="2600">
              <a:solidFill>
                <a:schemeClr val="lt1"/>
              </a:solidFill>
            </a:endParaRPr>
          </a:p>
        </p:txBody>
      </p:sp>
      <p:graphicFrame>
        <p:nvGraphicFramePr>
          <p:cNvPr id="85" name="Google Shape;85;p17"/>
          <p:cNvGraphicFramePr/>
          <p:nvPr/>
        </p:nvGraphicFramePr>
        <p:xfrm>
          <a:off x="269025" y="783425"/>
          <a:ext cx="3000000" cy="3000000"/>
        </p:xfrm>
        <a:graphic>
          <a:graphicData uri="http://schemas.openxmlformats.org/drawingml/2006/table">
            <a:tbl>
              <a:tblPr>
                <a:noFill/>
                <a:tableStyleId>{EC5CF511-E574-49F7-879F-DA0F1DD7219E}</a:tableStyleId>
              </a:tblPr>
              <a:tblGrid>
                <a:gridCol w="2695900"/>
                <a:gridCol w="2695900"/>
              </a:tblGrid>
              <a:tr h="1020550">
                <a:tc>
                  <a:txBody>
                    <a:bodyPr/>
                    <a:lstStyle/>
                    <a:p>
                      <a:pPr indent="0" lvl="0" marL="0" rtl="0" algn="ctr">
                        <a:spcBef>
                          <a:spcPts val="0"/>
                        </a:spcBef>
                        <a:spcAft>
                          <a:spcPts val="0"/>
                        </a:spcAft>
                        <a:buNone/>
                      </a:pPr>
                      <a:r>
                        <a:rPr b="1" lang="en" sz="1800">
                          <a:solidFill>
                            <a:srgbClr val="0B5394"/>
                          </a:solidFill>
                        </a:rPr>
                        <a:t>Algorithm </a:t>
                      </a:r>
                      <a:endParaRPr b="1" sz="1800">
                        <a:solidFill>
                          <a:srgbClr val="0B5394"/>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800">
                          <a:solidFill>
                            <a:srgbClr val="0B5394"/>
                          </a:solidFill>
                        </a:rPr>
                        <a:t>Hyperparameter</a:t>
                      </a:r>
                      <a:endParaRPr b="1" sz="1800">
                        <a:solidFill>
                          <a:srgbClr val="0B5394"/>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K-Means Clustering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Partitions data into K clusters by minimizing variance within each cluster. </a:t>
                      </a:r>
                      <a:endParaRPr sz="1900">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Hierarchical Clustering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Builds a hierarchy of clusters by iteratively merging or splitting existing groups. </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2075">
                <a:tc>
                  <a:txBody>
                    <a:bodyPr/>
                    <a:lstStyle/>
                    <a:p>
                      <a:pPr indent="0" lvl="0" marL="0" rtl="0" algn="ctr">
                        <a:spcBef>
                          <a:spcPts val="0"/>
                        </a:spcBef>
                        <a:spcAft>
                          <a:spcPts val="0"/>
                        </a:spcAft>
                        <a:buNone/>
                      </a:pPr>
                      <a:r>
                        <a:rPr b="1" lang="en" sz="1200">
                          <a:solidFill>
                            <a:schemeClr val="dk1"/>
                          </a:solidFill>
                        </a:rPr>
                        <a:t>DBSCAN </a:t>
                      </a:r>
                      <a:endParaRPr b="1"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rPr>
                        <a:t>Forms clusters based on density; groups densely packed points and marks outliers.</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6" name="Google Shape;86;p17"/>
          <p:cNvSpPr txBox="1"/>
          <p:nvPr/>
        </p:nvSpPr>
        <p:spPr>
          <a:xfrm>
            <a:off x="5967100" y="979825"/>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DBSCAN</a:t>
            </a:r>
            <a:endParaRPr/>
          </a:p>
        </p:txBody>
      </p:sp>
      <p:pic>
        <p:nvPicPr>
          <p:cNvPr id="87" name="Google Shape;87;p17"/>
          <p:cNvPicPr preferRelativeResize="0"/>
          <p:nvPr/>
        </p:nvPicPr>
        <p:blipFill>
          <a:blip r:embed="rId3">
            <a:alphaModFix/>
          </a:blip>
          <a:stretch>
            <a:fillRect/>
          </a:stretch>
        </p:blipFill>
        <p:spPr>
          <a:xfrm>
            <a:off x="5943100" y="1349125"/>
            <a:ext cx="3048000" cy="3067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Hierarchical clustering </a:t>
            </a:r>
            <a:endParaRPr b="1">
              <a:solidFill>
                <a:schemeClr val="lt1"/>
              </a:solidFill>
            </a:endParaRPr>
          </a:p>
        </p:txBody>
      </p:sp>
      <p:sp>
        <p:nvSpPr>
          <p:cNvPr id="93" name="Google Shape;93;p18"/>
          <p:cNvSpPr txBox="1"/>
          <p:nvPr/>
        </p:nvSpPr>
        <p:spPr>
          <a:xfrm>
            <a:off x="2000849" y="4336032"/>
            <a:ext cx="138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Look for closest items </a:t>
            </a:r>
            <a:endParaRPr/>
          </a:p>
        </p:txBody>
      </p:sp>
      <p:sp>
        <p:nvSpPr>
          <p:cNvPr id="94" name="Google Shape;94;p18"/>
          <p:cNvSpPr txBox="1"/>
          <p:nvPr/>
        </p:nvSpPr>
        <p:spPr>
          <a:xfrm>
            <a:off x="4121499" y="4336032"/>
            <a:ext cx="138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Create new branch </a:t>
            </a:r>
            <a:endParaRPr/>
          </a:p>
        </p:txBody>
      </p:sp>
      <p:sp>
        <p:nvSpPr>
          <p:cNvPr id="95" name="Google Shape;95;p18"/>
          <p:cNvSpPr txBox="1"/>
          <p:nvPr/>
        </p:nvSpPr>
        <p:spPr>
          <a:xfrm>
            <a:off x="6024649" y="4421983"/>
            <a:ext cx="138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Repeat </a:t>
            </a:r>
            <a:endParaRPr/>
          </a:p>
        </p:txBody>
      </p:sp>
      <p:sp>
        <p:nvSpPr>
          <p:cNvPr id="96" name="Google Shape;96;p18"/>
          <p:cNvSpPr/>
          <p:nvPr/>
        </p:nvSpPr>
        <p:spPr>
          <a:xfrm>
            <a:off x="3525413" y="4582379"/>
            <a:ext cx="596100" cy="152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8"/>
          <p:cNvSpPr/>
          <p:nvPr/>
        </p:nvSpPr>
        <p:spPr>
          <a:xfrm>
            <a:off x="5559038" y="4567629"/>
            <a:ext cx="596100" cy="152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8"/>
          <p:cNvSpPr txBox="1"/>
          <p:nvPr/>
        </p:nvSpPr>
        <p:spPr>
          <a:xfrm>
            <a:off x="1982220" y="476319"/>
            <a:ext cx="431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rgbClr val="9E9E9E"/>
                </a:solidFill>
              </a:rPr>
              <a:t>Bioinformatics Crash Course. (2020). </a:t>
            </a:r>
            <a:endParaRPr i="1">
              <a:solidFill>
                <a:srgbClr val="9E9E9E"/>
              </a:solidFill>
            </a:endParaRPr>
          </a:p>
        </p:txBody>
      </p:sp>
      <p:pic>
        <p:nvPicPr>
          <p:cNvPr id="99" name="Google Shape;99;p18"/>
          <p:cNvPicPr preferRelativeResize="0"/>
          <p:nvPr/>
        </p:nvPicPr>
        <p:blipFill>
          <a:blip r:embed="rId3">
            <a:alphaModFix/>
          </a:blip>
          <a:stretch>
            <a:fillRect/>
          </a:stretch>
        </p:blipFill>
        <p:spPr>
          <a:xfrm>
            <a:off x="1912475" y="793688"/>
            <a:ext cx="5801347" cy="3556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Hierarchical clustering </a:t>
            </a:r>
            <a:endParaRPr b="1">
              <a:solidFill>
                <a:schemeClr val="lt1"/>
              </a:solidFill>
            </a:endParaRPr>
          </a:p>
        </p:txBody>
      </p:sp>
      <p:sp>
        <p:nvSpPr>
          <p:cNvPr id="105" name="Google Shape;105;p19"/>
          <p:cNvSpPr txBox="1"/>
          <p:nvPr/>
        </p:nvSpPr>
        <p:spPr>
          <a:xfrm>
            <a:off x="2000849" y="4336032"/>
            <a:ext cx="138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Look for closest items </a:t>
            </a:r>
            <a:endParaRPr/>
          </a:p>
        </p:txBody>
      </p:sp>
      <p:sp>
        <p:nvSpPr>
          <p:cNvPr id="106" name="Google Shape;106;p19"/>
          <p:cNvSpPr txBox="1"/>
          <p:nvPr/>
        </p:nvSpPr>
        <p:spPr>
          <a:xfrm>
            <a:off x="4121499" y="4336032"/>
            <a:ext cx="138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Create new branch </a:t>
            </a:r>
            <a:endParaRPr/>
          </a:p>
        </p:txBody>
      </p:sp>
      <p:sp>
        <p:nvSpPr>
          <p:cNvPr id="107" name="Google Shape;107;p19"/>
          <p:cNvSpPr txBox="1"/>
          <p:nvPr/>
        </p:nvSpPr>
        <p:spPr>
          <a:xfrm>
            <a:off x="6024649" y="4421983"/>
            <a:ext cx="138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Repeat </a:t>
            </a:r>
            <a:endParaRPr/>
          </a:p>
        </p:txBody>
      </p:sp>
      <p:sp>
        <p:nvSpPr>
          <p:cNvPr id="108" name="Google Shape;108;p19"/>
          <p:cNvSpPr/>
          <p:nvPr/>
        </p:nvSpPr>
        <p:spPr>
          <a:xfrm>
            <a:off x="3525413" y="4582379"/>
            <a:ext cx="596100" cy="152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9"/>
          <p:cNvSpPr/>
          <p:nvPr/>
        </p:nvSpPr>
        <p:spPr>
          <a:xfrm>
            <a:off x="5559038" y="4567629"/>
            <a:ext cx="596100" cy="152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9"/>
          <p:cNvSpPr txBox="1"/>
          <p:nvPr/>
        </p:nvSpPr>
        <p:spPr>
          <a:xfrm>
            <a:off x="1982220" y="476319"/>
            <a:ext cx="431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rgbClr val="9E9E9E"/>
                </a:solidFill>
              </a:rPr>
              <a:t>Bioinformatics Crash Course. (2020). </a:t>
            </a:r>
            <a:endParaRPr i="1">
              <a:solidFill>
                <a:srgbClr val="9E9E9E"/>
              </a:solidFill>
            </a:endParaRPr>
          </a:p>
        </p:txBody>
      </p:sp>
      <p:pic>
        <p:nvPicPr>
          <p:cNvPr id="111" name="Google Shape;111;p19"/>
          <p:cNvPicPr preferRelativeResize="0"/>
          <p:nvPr/>
        </p:nvPicPr>
        <p:blipFill>
          <a:blip r:embed="rId3">
            <a:alphaModFix/>
          </a:blip>
          <a:stretch>
            <a:fillRect/>
          </a:stretch>
        </p:blipFill>
        <p:spPr>
          <a:xfrm>
            <a:off x="1912475" y="793688"/>
            <a:ext cx="5801347" cy="3556124"/>
          </a:xfrm>
          <a:prstGeom prst="rect">
            <a:avLst/>
          </a:prstGeom>
          <a:noFill/>
          <a:ln>
            <a:noFill/>
          </a:ln>
        </p:spPr>
      </p:pic>
      <p:pic>
        <p:nvPicPr>
          <p:cNvPr id="112" name="Google Shape;112;p19"/>
          <p:cNvPicPr preferRelativeResize="0"/>
          <p:nvPr/>
        </p:nvPicPr>
        <p:blipFill>
          <a:blip r:embed="rId4">
            <a:alphaModFix/>
          </a:blip>
          <a:stretch>
            <a:fillRect/>
          </a:stretch>
        </p:blipFill>
        <p:spPr>
          <a:xfrm>
            <a:off x="2441075" y="2733770"/>
            <a:ext cx="2503350" cy="371075"/>
          </a:xfrm>
          <a:prstGeom prst="rect">
            <a:avLst/>
          </a:prstGeom>
          <a:noFill/>
          <a:ln>
            <a:noFill/>
          </a:ln>
        </p:spPr>
      </p:pic>
      <p:cxnSp>
        <p:nvCxnSpPr>
          <p:cNvPr id="113" name="Google Shape;113;p19"/>
          <p:cNvCxnSpPr/>
          <p:nvPr/>
        </p:nvCxnSpPr>
        <p:spPr>
          <a:xfrm>
            <a:off x="2503250" y="1787725"/>
            <a:ext cx="152100" cy="9135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Hierarchical clustering </a:t>
            </a:r>
            <a:endParaRPr b="1">
              <a:solidFill>
                <a:schemeClr val="lt1"/>
              </a:solidFill>
            </a:endParaRPr>
          </a:p>
        </p:txBody>
      </p:sp>
      <p:pic>
        <p:nvPicPr>
          <p:cNvPr id="119" name="Google Shape;119;p20"/>
          <p:cNvPicPr preferRelativeResize="0"/>
          <p:nvPr/>
        </p:nvPicPr>
        <p:blipFill>
          <a:blip r:embed="rId3">
            <a:alphaModFix/>
          </a:blip>
          <a:stretch>
            <a:fillRect/>
          </a:stretch>
        </p:blipFill>
        <p:spPr>
          <a:xfrm>
            <a:off x="261150" y="1085430"/>
            <a:ext cx="4310850" cy="2779542"/>
          </a:xfrm>
          <a:prstGeom prst="rect">
            <a:avLst/>
          </a:prstGeom>
          <a:noFill/>
          <a:ln>
            <a:noFill/>
          </a:ln>
        </p:spPr>
      </p:pic>
      <p:sp>
        <p:nvSpPr>
          <p:cNvPr id="120" name="Google Shape;120;p20"/>
          <p:cNvSpPr txBox="1"/>
          <p:nvPr/>
        </p:nvSpPr>
        <p:spPr>
          <a:xfrm>
            <a:off x="702825" y="630755"/>
            <a:ext cx="342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DATA_SET_REFERENCE_4_A.csv</a:t>
            </a:r>
            <a:endParaRPr b="1"/>
          </a:p>
        </p:txBody>
      </p:sp>
      <p:pic>
        <p:nvPicPr>
          <p:cNvPr id="121" name="Google Shape;121;p20"/>
          <p:cNvPicPr preferRelativeResize="0"/>
          <p:nvPr/>
        </p:nvPicPr>
        <p:blipFill>
          <a:blip r:embed="rId4">
            <a:alphaModFix/>
          </a:blip>
          <a:stretch>
            <a:fillRect/>
          </a:stretch>
        </p:blipFill>
        <p:spPr>
          <a:xfrm>
            <a:off x="5107772" y="1030943"/>
            <a:ext cx="4036226" cy="3169076"/>
          </a:xfrm>
          <a:prstGeom prst="rect">
            <a:avLst/>
          </a:prstGeom>
          <a:noFill/>
          <a:ln>
            <a:noFill/>
          </a:ln>
        </p:spPr>
      </p:pic>
      <p:pic>
        <p:nvPicPr>
          <p:cNvPr id="122" name="Google Shape;122;p20"/>
          <p:cNvPicPr preferRelativeResize="0"/>
          <p:nvPr/>
        </p:nvPicPr>
        <p:blipFill>
          <a:blip r:embed="rId5">
            <a:alphaModFix/>
          </a:blip>
          <a:stretch>
            <a:fillRect/>
          </a:stretch>
        </p:blipFill>
        <p:spPr>
          <a:xfrm>
            <a:off x="970975" y="4664799"/>
            <a:ext cx="7466697" cy="400200"/>
          </a:xfrm>
          <a:prstGeom prst="rect">
            <a:avLst/>
          </a:prstGeom>
          <a:noFill/>
          <a:ln>
            <a:noFill/>
          </a:ln>
        </p:spPr>
      </p:pic>
      <p:sp>
        <p:nvSpPr>
          <p:cNvPr id="123" name="Google Shape;123;p20"/>
          <p:cNvSpPr/>
          <p:nvPr/>
        </p:nvSpPr>
        <p:spPr>
          <a:xfrm>
            <a:off x="2269725" y="4020238"/>
            <a:ext cx="293700" cy="48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0"/>
          <p:cNvSpPr/>
          <p:nvPr/>
        </p:nvSpPr>
        <p:spPr>
          <a:xfrm rot="10800000">
            <a:off x="7108900" y="4091263"/>
            <a:ext cx="293700" cy="48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Hierarchical clustering </a:t>
            </a:r>
            <a:endParaRPr b="1">
              <a:solidFill>
                <a:schemeClr val="lt1"/>
              </a:solidFill>
            </a:endParaRPr>
          </a:p>
        </p:txBody>
      </p:sp>
      <p:pic>
        <p:nvPicPr>
          <p:cNvPr id="130" name="Google Shape;130;p21"/>
          <p:cNvPicPr preferRelativeResize="0"/>
          <p:nvPr/>
        </p:nvPicPr>
        <p:blipFill>
          <a:blip r:embed="rId3">
            <a:alphaModFix/>
          </a:blip>
          <a:stretch>
            <a:fillRect/>
          </a:stretch>
        </p:blipFill>
        <p:spPr>
          <a:xfrm>
            <a:off x="209778" y="587674"/>
            <a:ext cx="5689261" cy="4466974"/>
          </a:xfrm>
          <a:prstGeom prst="rect">
            <a:avLst/>
          </a:prstGeom>
          <a:noFill/>
          <a:ln>
            <a:noFill/>
          </a:ln>
        </p:spPr>
      </p:pic>
      <p:sp>
        <p:nvSpPr>
          <p:cNvPr id="131" name="Google Shape;131;p21"/>
          <p:cNvSpPr txBox="1"/>
          <p:nvPr/>
        </p:nvSpPr>
        <p:spPr>
          <a:xfrm>
            <a:off x="5482772" y="2158544"/>
            <a:ext cx="34599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It only grouped samples based on </a:t>
            </a:r>
            <a:r>
              <a:rPr lang="en">
                <a:solidFill>
                  <a:srgbClr val="FF0000"/>
                </a:solidFill>
              </a:rPr>
              <a:t>raw gene expression</a:t>
            </a:r>
            <a:r>
              <a:rPr lang="en"/>
              <a:t>.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The planet of origin is not the main biological factor driving the differences in these samples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nvSpPr>
        <p:spPr>
          <a:xfrm>
            <a:off x="0" y="0"/>
            <a:ext cx="9144000" cy="4926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1"/>
                </a:solidFill>
              </a:rPr>
              <a:t>K-means</a:t>
            </a:r>
            <a:endParaRPr b="1" sz="2000">
              <a:solidFill>
                <a:schemeClr val="lt1"/>
              </a:solidFill>
            </a:endParaRPr>
          </a:p>
        </p:txBody>
      </p:sp>
      <p:pic>
        <p:nvPicPr>
          <p:cNvPr id="137" name="Google Shape;137;p22"/>
          <p:cNvPicPr preferRelativeResize="0"/>
          <p:nvPr/>
        </p:nvPicPr>
        <p:blipFill>
          <a:blip r:embed="rId3">
            <a:alphaModFix/>
          </a:blip>
          <a:stretch>
            <a:fillRect/>
          </a:stretch>
        </p:blipFill>
        <p:spPr>
          <a:xfrm>
            <a:off x="335225" y="1752288"/>
            <a:ext cx="1552476" cy="1418774"/>
          </a:xfrm>
          <a:prstGeom prst="rect">
            <a:avLst/>
          </a:prstGeom>
          <a:noFill/>
          <a:ln>
            <a:noFill/>
          </a:ln>
        </p:spPr>
      </p:pic>
      <p:pic>
        <p:nvPicPr>
          <p:cNvPr id="138" name="Google Shape;138;p22"/>
          <p:cNvPicPr preferRelativeResize="0"/>
          <p:nvPr/>
        </p:nvPicPr>
        <p:blipFill>
          <a:blip r:embed="rId4">
            <a:alphaModFix/>
          </a:blip>
          <a:stretch>
            <a:fillRect/>
          </a:stretch>
        </p:blipFill>
        <p:spPr>
          <a:xfrm>
            <a:off x="335237" y="3539775"/>
            <a:ext cx="1788403" cy="1418774"/>
          </a:xfrm>
          <a:prstGeom prst="rect">
            <a:avLst/>
          </a:prstGeom>
          <a:noFill/>
          <a:ln>
            <a:noFill/>
          </a:ln>
        </p:spPr>
      </p:pic>
      <p:sp>
        <p:nvSpPr>
          <p:cNvPr id="139" name="Google Shape;139;p22"/>
          <p:cNvSpPr txBox="1"/>
          <p:nvPr/>
        </p:nvSpPr>
        <p:spPr>
          <a:xfrm>
            <a:off x="85650" y="560975"/>
            <a:ext cx="8972700" cy="822600"/>
          </a:xfrm>
          <a:prstGeom prst="rect">
            <a:avLst/>
          </a:prstGeom>
          <a:noFill/>
          <a:ln cap="flat" cmpd="sng" w="952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800">
                <a:solidFill>
                  <a:srgbClr val="434343"/>
                </a:solidFill>
              </a:rPr>
              <a:t>K-Means Clustering groups similar data points into clusters without needing labeled data.</a:t>
            </a:r>
            <a:endParaRPr sz="1800">
              <a:solidFill>
                <a:srgbClr val="434343"/>
              </a:solidFill>
            </a:endParaRPr>
          </a:p>
          <a:p>
            <a:pPr indent="0" lvl="0" marL="0" rtl="0" algn="just">
              <a:spcBef>
                <a:spcPts val="1200"/>
              </a:spcBef>
              <a:spcAft>
                <a:spcPts val="0"/>
              </a:spcAft>
              <a:buNone/>
            </a:pPr>
            <a:r>
              <a:t/>
            </a:r>
            <a:endParaRPr sz="1800">
              <a:solidFill>
                <a:srgbClr val="434343"/>
              </a:solidFill>
            </a:endParaRPr>
          </a:p>
        </p:txBody>
      </p:sp>
      <p:sp>
        <p:nvSpPr>
          <p:cNvPr id="140" name="Google Shape;140;p22"/>
          <p:cNvSpPr txBox="1"/>
          <p:nvPr/>
        </p:nvSpPr>
        <p:spPr>
          <a:xfrm>
            <a:off x="3513700" y="1779250"/>
            <a:ext cx="5349300" cy="2756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800">
                <a:solidFill>
                  <a:srgbClr val="434343"/>
                </a:solidFill>
              </a:rPr>
              <a:t>Identifies grouping of unlabeled data </a:t>
            </a:r>
            <a:endParaRPr sz="1800">
              <a:solidFill>
                <a:srgbClr val="434343"/>
              </a:solidFill>
            </a:endParaRPr>
          </a:p>
          <a:p>
            <a:pPr indent="0" lvl="0" marL="0" rtl="0" algn="just">
              <a:spcBef>
                <a:spcPts val="0"/>
              </a:spcBef>
              <a:spcAft>
                <a:spcPts val="0"/>
              </a:spcAft>
              <a:buNone/>
            </a:pPr>
            <a:r>
              <a:t/>
            </a:r>
            <a:endParaRPr sz="1800">
              <a:solidFill>
                <a:srgbClr val="434343"/>
              </a:solidFill>
            </a:endParaRPr>
          </a:p>
          <a:p>
            <a:pPr indent="0" lvl="0" marL="0" rtl="0" algn="just">
              <a:spcBef>
                <a:spcPts val="0"/>
              </a:spcBef>
              <a:spcAft>
                <a:spcPts val="0"/>
              </a:spcAft>
              <a:buNone/>
            </a:pPr>
            <a:r>
              <a:t/>
            </a:r>
            <a:endParaRPr sz="1800">
              <a:solidFill>
                <a:srgbClr val="434343"/>
              </a:solidFill>
            </a:endParaRPr>
          </a:p>
          <a:p>
            <a:pPr indent="0" lvl="0" marL="0" rtl="0" algn="just">
              <a:spcBef>
                <a:spcPts val="0"/>
              </a:spcBef>
              <a:spcAft>
                <a:spcPts val="0"/>
              </a:spcAft>
              <a:buNone/>
            </a:pPr>
            <a:r>
              <a:rPr lang="en" sz="1800">
                <a:solidFill>
                  <a:srgbClr val="434343"/>
                </a:solidFill>
              </a:rPr>
              <a:t>Group points based on distance to cluster cen</a:t>
            </a:r>
            <a:r>
              <a:rPr lang="en" sz="1800">
                <a:solidFill>
                  <a:srgbClr val="434343"/>
                </a:solidFill>
              </a:rPr>
              <a:t>ters</a:t>
            </a:r>
            <a:endParaRPr sz="1800">
              <a:solidFill>
                <a:srgbClr val="434343"/>
              </a:solidFill>
            </a:endParaRPr>
          </a:p>
          <a:p>
            <a:pPr indent="0" lvl="0" marL="0" rtl="0" algn="just">
              <a:spcBef>
                <a:spcPts val="0"/>
              </a:spcBef>
              <a:spcAft>
                <a:spcPts val="0"/>
              </a:spcAft>
              <a:buNone/>
            </a:pPr>
            <a:r>
              <a:t/>
            </a:r>
            <a:endParaRPr sz="1800">
              <a:solidFill>
                <a:srgbClr val="434343"/>
              </a:solidFill>
            </a:endParaRPr>
          </a:p>
          <a:p>
            <a:pPr indent="0" lvl="0" marL="0" rtl="0" algn="just">
              <a:spcBef>
                <a:spcPts val="0"/>
              </a:spcBef>
              <a:spcAft>
                <a:spcPts val="0"/>
              </a:spcAft>
              <a:buNone/>
            </a:pPr>
            <a:r>
              <a:t/>
            </a:r>
            <a:endParaRPr sz="1800">
              <a:solidFill>
                <a:srgbClr val="434343"/>
              </a:solidFill>
            </a:endParaRPr>
          </a:p>
          <a:p>
            <a:pPr indent="0" lvl="0" marL="0" rtl="0" algn="just">
              <a:spcBef>
                <a:spcPts val="0"/>
              </a:spcBef>
              <a:spcAft>
                <a:spcPts val="0"/>
              </a:spcAft>
              <a:buNone/>
            </a:pPr>
            <a:r>
              <a:t/>
            </a:r>
            <a:endParaRPr sz="1800">
              <a:solidFill>
                <a:srgbClr val="434343"/>
              </a:solidFill>
            </a:endParaRPr>
          </a:p>
          <a:p>
            <a:pPr indent="0" lvl="0" marL="0" rtl="0" algn="just">
              <a:spcBef>
                <a:spcPts val="0"/>
              </a:spcBef>
              <a:spcAft>
                <a:spcPts val="0"/>
              </a:spcAft>
              <a:buNone/>
            </a:pPr>
            <a:r>
              <a:rPr lang="en" sz="1800">
                <a:solidFill>
                  <a:srgbClr val="434343"/>
                </a:solidFill>
              </a:rPr>
              <a:t>Useful when you need structure from raw, unorganized data</a:t>
            </a:r>
            <a:endParaRPr sz="180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rPr>
              <a:t>K-means</a:t>
            </a:r>
            <a:endParaRPr b="1" sz="1800">
              <a:solidFill>
                <a:schemeClr val="lt1"/>
              </a:solidFill>
            </a:endParaRPr>
          </a:p>
        </p:txBody>
      </p:sp>
      <p:sp>
        <p:nvSpPr>
          <p:cNvPr id="146" name="Google Shape;146;p23"/>
          <p:cNvSpPr txBox="1"/>
          <p:nvPr/>
        </p:nvSpPr>
        <p:spPr>
          <a:xfrm>
            <a:off x="127000" y="577275"/>
            <a:ext cx="1982100" cy="5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Algorithm</a:t>
            </a:r>
            <a:endParaRPr b="1" sz="1800">
              <a:solidFill>
                <a:schemeClr val="dk2"/>
              </a:solidFill>
            </a:endParaRPr>
          </a:p>
        </p:txBody>
      </p:sp>
      <p:pic>
        <p:nvPicPr>
          <p:cNvPr id="147" name="Google Shape;147;p23"/>
          <p:cNvPicPr preferRelativeResize="0"/>
          <p:nvPr/>
        </p:nvPicPr>
        <p:blipFill rotWithShape="1">
          <a:blip r:embed="rId3">
            <a:alphaModFix/>
          </a:blip>
          <a:srcRect b="14053" l="1924" r="1895" t="12020"/>
          <a:stretch/>
        </p:blipFill>
        <p:spPr>
          <a:xfrm>
            <a:off x="191088" y="1077675"/>
            <a:ext cx="8761823" cy="37906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DBSCAN ((Density-Based Spatial Clustering of Applications with Noise)</a:t>
            </a:r>
            <a:endParaRPr b="1">
              <a:solidFill>
                <a:schemeClr val="lt1"/>
              </a:solidFill>
            </a:endParaRPr>
          </a:p>
        </p:txBody>
      </p:sp>
      <p:pic>
        <p:nvPicPr>
          <p:cNvPr id="153" name="Google Shape;153;p24" title="1_tc8UF-h0nQqUfLC8-0uInQ.gif"/>
          <p:cNvPicPr preferRelativeResize="0"/>
          <p:nvPr/>
        </p:nvPicPr>
        <p:blipFill>
          <a:blip r:embed="rId3">
            <a:alphaModFix/>
          </a:blip>
          <a:stretch>
            <a:fillRect/>
          </a:stretch>
        </p:blipFill>
        <p:spPr>
          <a:xfrm>
            <a:off x="1287725" y="779675"/>
            <a:ext cx="6429375" cy="4038600"/>
          </a:xfrm>
          <a:prstGeom prst="rect">
            <a:avLst/>
          </a:prstGeom>
          <a:noFill/>
          <a:ln>
            <a:noFill/>
          </a:ln>
        </p:spPr>
      </p:pic>
      <p:sp>
        <p:nvSpPr>
          <p:cNvPr id="154" name="Google Shape;154;p24"/>
          <p:cNvSpPr txBox="1"/>
          <p:nvPr/>
        </p:nvSpPr>
        <p:spPr>
          <a:xfrm>
            <a:off x="306025" y="7796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DBSCAN groups by density</a:t>
            </a:r>
            <a:r>
              <a:rPr lang="en" sz="1100">
                <a:solidFill>
                  <a:schemeClr val="dk1"/>
                </a:solidFill>
              </a:rPr>
              <a:t>. </a:t>
            </a:r>
            <a:endParaRPr/>
          </a:p>
        </p:txBody>
      </p:sp>
      <p:pic>
        <p:nvPicPr>
          <p:cNvPr id="155" name="Google Shape;155;p24"/>
          <p:cNvPicPr preferRelativeResize="0"/>
          <p:nvPr/>
        </p:nvPicPr>
        <p:blipFill>
          <a:blip r:embed="rId4">
            <a:alphaModFix/>
          </a:blip>
          <a:stretch>
            <a:fillRect/>
          </a:stretch>
        </p:blipFill>
        <p:spPr>
          <a:xfrm>
            <a:off x="6699375" y="678549"/>
            <a:ext cx="2371900" cy="1954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DBSCAN</a:t>
            </a:r>
            <a:endParaRPr b="1">
              <a:solidFill>
                <a:schemeClr val="lt1"/>
              </a:solidFill>
            </a:endParaRPr>
          </a:p>
        </p:txBody>
      </p:sp>
      <p:pic>
        <p:nvPicPr>
          <p:cNvPr id="161" name="Google Shape;161;p25"/>
          <p:cNvPicPr preferRelativeResize="0"/>
          <p:nvPr/>
        </p:nvPicPr>
        <p:blipFill rotWithShape="1">
          <a:blip r:embed="rId3">
            <a:alphaModFix/>
          </a:blip>
          <a:srcRect b="17886" l="0" r="0" t="15398"/>
          <a:stretch/>
        </p:blipFill>
        <p:spPr>
          <a:xfrm>
            <a:off x="1173459" y="1494675"/>
            <a:ext cx="6540400" cy="2181800"/>
          </a:xfrm>
          <a:prstGeom prst="rect">
            <a:avLst/>
          </a:prstGeom>
          <a:noFill/>
          <a:ln>
            <a:noFill/>
          </a:ln>
        </p:spPr>
      </p:pic>
      <p:pic>
        <p:nvPicPr>
          <p:cNvPr id="162" name="Google Shape;162;p25"/>
          <p:cNvPicPr preferRelativeResize="0"/>
          <p:nvPr/>
        </p:nvPicPr>
        <p:blipFill rotWithShape="1">
          <a:blip r:embed="rId3">
            <a:alphaModFix/>
          </a:blip>
          <a:srcRect b="17886" l="65947" r="18656" t="15398"/>
          <a:stretch/>
        </p:blipFill>
        <p:spPr>
          <a:xfrm>
            <a:off x="2302234" y="1577975"/>
            <a:ext cx="1006998" cy="2181800"/>
          </a:xfrm>
          <a:prstGeom prst="rect">
            <a:avLst/>
          </a:prstGeom>
          <a:noFill/>
          <a:ln>
            <a:noFill/>
          </a:ln>
        </p:spPr>
      </p:pic>
      <p:pic>
        <p:nvPicPr>
          <p:cNvPr id="163" name="Google Shape;163;p25"/>
          <p:cNvPicPr preferRelativeResize="0"/>
          <p:nvPr/>
        </p:nvPicPr>
        <p:blipFill rotWithShape="1">
          <a:blip r:embed="rId3">
            <a:alphaModFix/>
          </a:blip>
          <a:srcRect b="17886" l="16589" r="16736" t="15398"/>
          <a:stretch/>
        </p:blipFill>
        <p:spPr>
          <a:xfrm>
            <a:off x="3352889" y="1528625"/>
            <a:ext cx="4360976" cy="2181800"/>
          </a:xfrm>
          <a:prstGeom prst="rect">
            <a:avLst/>
          </a:prstGeom>
          <a:noFill/>
          <a:ln>
            <a:noFill/>
          </a:ln>
        </p:spPr>
      </p:pic>
      <p:pic>
        <p:nvPicPr>
          <p:cNvPr id="164" name="Google Shape;164;p25"/>
          <p:cNvPicPr preferRelativeResize="0"/>
          <p:nvPr/>
        </p:nvPicPr>
        <p:blipFill rotWithShape="1">
          <a:blip r:embed="rId3">
            <a:alphaModFix/>
          </a:blip>
          <a:srcRect b="17886" l="83327" r="0" t="15398"/>
          <a:stretch/>
        </p:blipFill>
        <p:spPr>
          <a:xfrm>
            <a:off x="6557207" y="1528625"/>
            <a:ext cx="1090525" cy="2181800"/>
          </a:xfrm>
          <a:prstGeom prst="rect">
            <a:avLst/>
          </a:prstGeom>
          <a:noFill/>
          <a:ln>
            <a:noFill/>
          </a:ln>
        </p:spPr>
      </p:pic>
      <p:sp>
        <p:nvSpPr>
          <p:cNvPr id="165" name="Google Shape;165;p25"/>
          <p:cNvSpPr txBox="1"/>
          <p:nvPr/>
        </p:nvSpPr>
        <p:spPr>
          <a:xfrm>
            <a:off x="2497700" y="3929175"/>
            <a:ext cx="1423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You decide ahead of time exactly how many K</a:t>
            </a:r>
            <a:endParaRPr sz="1200"/>
          </a:p>
        </p:txBody>
      </p:sp>
      <p:cxnSp>
        <p:nvCxnSpPr>
          <p:cNvPr id="166" name="Google Shape;166;p25"/>
          <p:cNvCxnSpPr>
            <a:endCxn id="165" idx="1"/>
          </p:cNvCxnSpPr>
          <p:nvPr/>
        </p:nvCxnSpPr>
        <p:spPr>
          <a:xfrm>
            <a:off x="1808600" y="3538125"/>
            <a:ext cx="689100" cy="760500"/>
          </a:xfrm>
          <a:prstGeom prst="straightConnector1">
            <a:avLst/>
          </a:prstGeom>
          <a:noFill/>
          <a:ln cap="flat" cmpd="sng" w="9525">
            <a:solidFill>
              <a:schemeClr val="dk2"/>
            </a:solidFill>
            <a:prstDash val="solid"/>
            <a:round/>
            <a:headEnd len="med" w="med" type="none"/>
            <a:tailEnd len="med" w="med" type="triangle"/>
          </a:ln>
        </p:spPr>
      </p:cxnSp>
      <p:sp>
        <p:nvSpPr>
          <p:cNvPr id="167" name="Google Shape;167;p25"/>
          <p:cNvSpPr txBox="1"/>
          <p:nvPr/>
        </p:nvSpPr>
        <p:spPr>
          <a:xfrm>
            <a:off x="5376700" y="3929175"/>
            <a:ext cx="126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F</a:t>
            </a:r>
            <a:r>
              <a:rPr lang="en" sz="1100">
                <a:solidFill>
                  <a:schemeClr val="dk1"/>
                </a:solidFill>
              </a:rPr>
              <a:t>orces </a:t>
            </a:r>
            <a:r>
              <a:rPr b="1" lang="en" sz="1100">
                <a:solidFill>
                  <a:schemeClr val="dk1"/>
                </a:solidFill>
              </a:rPr>
              <a:t>everyone</a:t>
            </a:r>
            <a:r>
              <a:rPr lang="en" sz="1100">
                <a:solidFill>
                  <a:schemeClr val="dk1"/>
                </a:solidFill>
              </a:rPr>
              <a:t> to join a group </a:t>
            </a:r>
            <a:endParaRPr/>
          </a:p>
        </p:txBody>
      </p:sp>
      <p:cxnSp>
        <p:nvCxnSpPr>
          <p:cNvPr id="168" name="Google Shape;168;p25"/>
          <p:cNvCxnSpPr>
            <a:endCxn id="167" idx="0"/>
          </p:cNvCxnSpPr>
          <p:nvPr/>
        </p:nvCxnSpPr>
        <p:spPr>
          <a:xfrm flipH="1">
            <a:off x="6011500" y="3560175"/>
            <a:ext cx="15000" cy="369000"/>
          </a:xfrm>
          <a:prstGeom prst="straightConnector1">
            <a:avLst/>
          </a:prstGeom>
          <a:noFill/>
          <a:ln cap="flat" cmpd="sng" w="9525">
            <a:solidFill>
              <a:schemeClr val="dk2"/>
            </a:solidFill>
            <a:prstDash val="solid"/>
            <a:round/>
            <a:headEnd len="med" w="med" type="none"/>
            <a:tailEnd len="med" w="med" type="triangle"/>
          </a:ln>
        </p:spPr>
      </p:cxnSp>
      <p:sp>
        <p:nvSpPr>
          <p:cNvPr id="169" name="Google Shape;169;p25"/>
          <p:cNvSpPr txBox="1"/>
          <p:nvPr/>
        </p:nvSpPr>
        <p:spPr>
          <a:xfrm>
            <a:off x="3937200" y="3929175"/>
            <a:ext cx="126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Forces </a:t>
            </a:r>
            <a:r>
              <a:rPr b="1" lang="en" sz="1100">
                <a:solidFill>
                  <a:schemeClr val="dk1"/>
                </a:solidFill>
              </a:rPr>
              <a:t>everyone</a:t>
            </a:r>
            <a:r>
              <a:rPr lang="en" sz="1100">
                <a:solidFill>
                  <a:schemeClr val="dk1"/>
                </a:solidFill>
              </a:rPr>
              <a:t> to join a group </a:t>
            </a:r>
            <a:endParaRPr/>
          </a:p>
        </p:txBody>
      </p:sp>
      <p:cxnSp>
        <p:nvCxnSpPr>
          <p:cNvPr id="170" name="Google Shape;170;p25"/>
          <p:cNvCxnSpPr>
            <a:endCxn id="169" idx="0"/>
          </p:cNvCxnSpPr>
          <p:nvPr/>
        </p:nvCxnSpPr>
        <p:spPr>
          <a:xfrm>
            <a:off x="4047300" y="3505875"/>
            <a:ext cx="524700" cy="423300"/>
          </a:xfrm>
          <a:prstGeom prst="straightConnector1">
            <a:avLst/>
          </a:prstGeom>
          <a:noFill/>
          <a:ln cap="flat" cmpd="sng" w="9525">
            <a:solidFill>
              <a:schemeClr val="dk2"/>
            </a:solidFill>
            <a:prstDash val="solid"/>
            <a:round/>
            <a:headEnd len="med" w="med" type="none"/>
            <a:tailEnd len="med" w="med" type="triangle"/>
          </a:ln>
        </p:spPr>
      </p:cxnSp>
      <p:sp>
        <p:nvSpPr>
          <p:cNvPr id="171" name="Google Shape;171;p25"/>
          <p:cNvSpPr txBox="1"/>
          <p:nvPr/>
        </p:nvSpPr>
        <p:spPr>
          <a:xfrm>
            <a:off x="4109300" y="687350"/>
            <a:ext cx="1584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G</a:t>
            </a:r>
            <a:r>
              <a:rPr lang="en" sz="1200"/>
              <a:t>roups of strange shapes </a:t>
            </a:r>
            <a:endParaRPr sz="1200"/>
          </a:p>
        </p:txBody>
      </p:sp>
      <p:cxnSp>
        <p:nvCxnSpPr>
          <p:cNvPr id="172" name="Google Shape;172;p25"/>
          <p:cNvCxnSpPr>
            <a:endCxn id="171" idx="2"/>
          </p:cNvCxnSpPr>
          <p:nvPr/>
        </p:nvCxnSpPr>
        <p:spPr>
          <a:xfrm flipH="1" rot="10800000">
            <a:off x="3943550" y="1241450"/>
            <a:ext cx="958200" cy="41580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25"/>
          <p:cNvCxnSpPr>
            <a:endCxn id="171" idx="2"/>
          </p:cNvCxnSpPr>
          <p:nvPr/>
        </p:nvCxnSpPr>
        <p:spPr>
          <a:xfrm flipH="1" rot="10800000">
            <a:off x="4824350" y="1241450"/>
            <a:ext cx="77400" cy="36150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5"/>
          <p:cNvSpPr txBox="1"/>
          <p:nvPr/>
        </p:nvSpPr>
        <p:spPr>
          <a:xfrm>
            <a:off x="1956600" y="983450"/>
            <a:ext cx="1212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figures out the number </a:t>
            </a:r>
            <a:endParaRPr sz="1200"/>
          </a:p>
        </p:txBody>
      </p:sp>
      <p:cxnSp>
        <p:nvCxnSpPr>
          <p:cNvPr id="175" name="Google Shape;175;p25"/>
          <p:cNvCxnSpPr>
            <a:endCxn id="174" idx="2"/>
          </p:cNvCxnSpPr>
          <p:nvPr/>
        </p:nvCxnSpPr>
        <p:spPr>
          <a:xfrm rot="10800000">
            <a:off x="2562750" y="1537550"/>
            <a:ext cx="168900" cy="532800"/>
          </a:xfrm>
          <a:prstGeom prst="straightConnector1">
            <a:avLst/>
          </a:prstGeom>
          <a:noFill/>
          <a:ln cap="flat" cmpd="sng" w="9525">
            <a:solidFill>
              <a:schemeClr val="dk2"/>
            </a:solidFill>
            <a:prstDash val="solid"/>
            <a:round/>
            <a:headEnd len="med" w="med" type="none"/>
            <a:tailEnd len="med" w="med" type="triangle"/>
          </a:ln>
        </p:spPr>
      </p:cxnSp>
      <p:sp>
        <p:nvSpPr>
          <p:cNvPr id="176" name="Google Shape;176;p25"/>
          <p:cNvSpPr txBox="1"/>
          <p:nvPr/>
        </p:nvSpPr>
        <p:spPr>
          <a:xfrm>
            <a:off x="5589400" y="1083500"/>
            <a:ext cx="12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Shows outliers</a:t>
            </a:r>
            <a:r>
              <a:rPr lang="en" sz="1100">
                <a:solidFill>
                  <a:schemeClr val="dk1"/>
                </a:solidFill>
              </a:rPr>
              <a:t> </a:t>
            </a:r>
            <a:endParaRPr/>
          </a:p>
        </p:txBody>
      </p:sp>
      <p:cxnSp>
        <p:nvCxnSpPr>
          <p:cNvPr id="177" name="Google Shape;177;p25"/>
          <p:cNvCxnSpPr/>
          <p:nvPr/>
        </p:nvCxnSpPr>
        <p:spPr>
          <a:xfrm flipH="1" rot="10800000">
            <a:off x="6026500" y="1372100"/>
            <a:ext cx="77400" cy="361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DBSCAN</a:t>
            </a:r>
            <a:endParaRPr b="1">
              <a:solidFill>
                <a:schemeClr val="lt1"/>
              </a:solidFill>
            </a:endParaRPr>
          </a:p>
        </p:txBody>
      </p:sp>
      <p:pic>
        <p:nvPicPr>
          <p:cNvPr id="183" name="Google Shape;183;p26"/>
          <p:cNvPicPr preferRelativeResize="0"/>
          <p:nvPr/>
        </p:nvPicPr>
        <p:blipFill>
          <a:blip r:embed="rId3">
            <a:alphaModFix/>
          </a:blip>
          <a:stretch>
            <a:fillRect/>
          </a:stretch>
        </p:blipFill>
        <p:spPr>
          <a:xfrm>
            <a:off x="845013" y="572350"/>
            <a:ext cx="7453971" cy="4438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rPr>
              <a:t>Use of the topic - </a:t>
            </a:r>
            <a:r>
              <a:rPr b="1" lang="en" sz="1800">
                <a:solidFill>
                  <a:schemeClr val="lt1"/>
                </a:solidFill>
              </a:rPr>
              <a:t>Activity</a:t>
            </a:r>
            <a:r>
              <a:rPr b="1" lang="en" sz="1800">
                <a:solidFill>
                  <a:schemeClr val="lt1"/>
                </a:solidFill>
              </a:rPr>
              <a:t> with IRIS data set from R studio</a:t>
            </a:r>
            <a:endParaRPr b="1" sz="1800">
              <a:solidFill>
                <a:schemeClr val="lt1"/>
              </a:solidFill>
            </a:endParaRPr>
          </a:p>
        </p:txBody>
      </p:sp>
      <p:sp>
        <p:nvSpPr>
          <p:cNvPr id="189" name="Google Shape;189;p27"/>
          <p:cNvSpPr txBox="1"/>
          <p:nvPr/>
        </p:nvSpPr>
        <p:spPr>
          <a:xfrm>
            <a:off x="127000" y="577275"/>
            <a:ext cx="1982100" cy="5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IRIS Data Set</a:t>
            </a:r>
            <a:endParaRPr b="1" sz="1800">
              <a:solidFill>
                <a:schemeClr val="dk2"/>
              </a:solidFill>
            </a:endParaRPr>
          </a:p>
        </p:txBody>
      </p:sp>
      <p:pic>
        <p:nvPicPr>
          <p:cNvPr id="190" name="Google Shape;190;p27"/>
          <p:cNvPicPr preferRelativeResize="0"/>
          <p:nvPr/>
        </p:nvPicPr>
        <p:blipFill rotWithShape="1">
          <a:blip r:embed="rId3">
            <a:alphaModFix/>
          </a:blip>
          <a:srcRect b="3981" l="5994" r="5729" t="3426"/>
          <a:stretch/>
        </p:blipFill>
        <p:spPr>
          <a:xfrm>
            <a:off x="560000" y="1495338"/>
            <a:ext cx="1549100" cy="1624875"/>
          </a:xfrm>
          <a:prstGeom prst="rect">
            <a:avLst/>
          </a:prstGeom>
          <a:noFill/>
          <a:ln>
            <a:noFill/>
          </a:ln>
        </p:spPr>
      </p:pic>
      <p:sp>
        <p:nvSpPr>
          <p:cNvPr id="191" name="Google Shape;191;p27"/>
          <p:cNvSpPr txBox="1"/>
          <p:nvPr/>
        </p:nvSpPr>
        <p:spPr>
          <a:xfrm>
            <a:off x="3425375" y="1198975"/>
            <a:ext cx="5349300" cy="22176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rgbClr val="434343"/>
              </a:buClr>
              <a:buSzPts val="1800"/>
              <a:buChar char="●"/>
            </a:pPr>
            <a:r>
              <a:rPr lang="en" sz="1800">
                <a:solidFill>
                  <a:srgbClr val="434343"/>
                </a:solidFill>
              </a:rPr>
              <a:t>150 individual iris flowers</a:t>
            </a:r>
            <a:endParaRPr sz="1800">
              <a:solidFill>
                <a:srgbClr val="434343"/>
              </a:solidFill>
            </a:endParaRPr>
          </a:p>
          <a:p>
            <a:pPr indent="0" lvl="0" marL="457200" rtl="0" algn="just">
              <a:spcBef>
                <a:spcPts val="0"/>
              </a:spcBef>
              <a:spcAft>
                <a:spcPts val="0"/>
              </a:spcAft>
              <a:buNone/>
            </a:pPr>
            <a:r>
              <a:t/>
            </a:r>
            <a:endParaRPr sz="1800">
              <a:solidFill>
                <a:srgbClr val="434343"/>
              </a:solidFill>
            </a:endParaRPr>
          </a:p>
          <a:p>
            <a:pPr indent="-342900" lvl="0" marL="457200" rtl="0" algn="just">
              <a:spcBef>
                <a:spcPts val="0"/>
              </a:spcBef>
              <a:spcAft>
                <a:spcPts val="0"/>
              </a:spcAft>
              <a:buClr>
                <a:srgbClr val="434343"/>
              </a:buClr>
              <a:buSzPts val="1800"/>
              <a:buChar char="●"/>
            </a:pPr>
            <a:r>
              <a:rPr lang="en" sz="1800">
                <a:solidFill>
                  <a:srgbClr val="434343"/>
                </a:solidFill>
              </a:rPr>
              <a:t>Three </a:t>
            </a:r>
            <a:r>
              <a:rPr lang="en" sz="1800">
                <a:solidFill>
                  <a:srgbClr val="434343"/>
                </a:solidFill>
              </a:rPr>
              <a:t>distinct</a:t>
            </a:r>
            <a:r>
              <a:rPr lang="en" sz="1800">
                <a:solidFill>
                  <a:srgbClr val="434343"/>
                </a:solidFill>
              </a:rPr>
              <a:t> species of iris flowers </a:t>
            </a:r>
            <a:endParaRPr sz="1800">
              <a:solidFill>
                <a:srgbClr val="434343"/>
              </a:solidFill>
            </a:endParaRPr>
          </a:p>
          <a:p>
            <a:pPr indent="0" lvl="0" marL="0" rtl="0" algn="just">
              <a:spcBef>
                <a:spcPts val="0"/>
              </a:spcBef>
              <a:spcAft>
                <a:spcPts val="0"/>
              </a:spcAft>
              <a:buNone/>
            </a:pPr>
            <a:r>
              <a:t/>
            </a:r>
            <a:endParaRPr sz="1800">
              <a:solidFill>
                <a:srgbClr val="434343"/>
              </a:solidFill>
            </a:endParaRPr>
          </a:p>
          <a:p>
            <a:pPr indent="-342900" lvl="0" marL="457200" rtl="0" algn="just">
              <a:spcBef>
                <a:spcPts val="0"/>
              </a:spcBef>
              <a:spcAft>
                <a:spcPts val="0"/>
              </a:spcAft>
              <a:buClr>
                <a:srgbClr val="434343"/>
              </a:buClr>
              <a:buSzPts val="1800"/>
              <a:buChar char="●"/>
            </a:pPr>
            <a:r>
              <a:rPr lang="en" sz="1800">
                <a:solidFill>
                  <a:srgbClr val="434343"/>
                </a:solidFill>
              </a:rPr>
              <a:t>150 rows (</a:t>
            </a:r>
            <a:r>
              <a:rPr b="1" lang="en" sz="1800">
                <a:solidFill>
                  <a:srgbClr val="434343"/>
                </a:solidFill>
              </a:rPr>
              <a:t>observations</a:t>
            </a:r>
            <a:r>
              <a:rPr lang="en" sz="1800">
                <a:solidFill>
                  <a:srgbClr val="434343"/>
                </a:solidFill>
              </a:rPr>
              <a:t>) and 5 columns (</a:t>
            </a:r>
            <a:r>
              <a:rPr b="1" lang="en" sz="1800">
                <a:solidFill>
                  <a:srgbClr val="434343"/>
                </a:solidFill>
              </a:rPr>
              <a:t>sepal and petal </a:t>
            </a:r>
            <a:r>
              <a:rPr b="1" lang="en" sz="1800">
                <a:solidFill>
                  <a:srgbClr val="434343"/>
                </a:solidFill>
              </a:rPr>
              <a:t>length</a:t>
            </a:r>
            <a:r>
              <a:rPr b="1" lang="en" sz="1800">
                <a:solidFill>
                  <a:srgbClr val="434343"/>
                </a:solidFill>
              </a:rPr>
              <a:t> and width, and specie</a:t>
            </a:r>
            <a:r>
              <a:rPr lang="en" sz="1800">
                <a:solidFill>
                  <a:srgbClr val="434343"/>
                </a:solidFill>
              </a:rPr>
              <a:t>)</a:t>
            </a:r>
            <a:endParaRPr sz="1800">
              <a:solidFill>
                <a:srgbClr val="434343"/>
              </a:solidFill>
            </a:endParaRPr>
          </a:p>
        </p:txBody>
      </p:sp>
      <p:sp>
        <p:nvSpPr>
          <p:cNvPr id="192" name="Google Shape;192;p27"/>
          <p:cNvSpPr txBox="1"/>
          <p:nvPr/>
        </p:nvSpPr>
        <p:spPr>
          <a:xfrm>
            <a:off x="560000" y="4075875"/>
            <a:ext cx="820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Activity: Use k-means method to determine specie of each observation </a:t>
            </a:r>
            <a:endParaRPr b="1"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Use of the topic - Activity with IRIS data set from R studio</a:t>
            </a:r>
            <a:endParaRPr b="1" sz="1800">
              <a:solidFill>
                <a:schemeClr val="lt1"/>
              </a:solidFill>
            </a:endParaRPr>
          </a:p>
        </p:txBody>
      </p:sp>
      <p:sp>
        <p:nvSpPr>
          <p:cNvPr id="198" name="Google Shape;198;p28"/>
          <p:cNvSpPr txBox="1"/>
          <p:nvPr/>
        </p:nvSpPr>
        <p:spPr>
          <a:xfrm>
            <a:off x="127000" y="577275"/>
            <a:ext cx="8929200" cy="44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Load data set in  R</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lang="en" sz="1200">
                <a:solidFill>
                  <a:schemeClr val="dk1"/>
                </a:solidFill>
              </a:rPr>
              <a:t>data &lt;- iris[, 1:4] #Columns 1 to 4 for not loading the specie column (5)</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df &lt;- na.omit(df) #</a:t>
            </a:r>
            <a:r>
              <a:rPr b="1" lang="en" sz="1200">
                <a:solidFill>
                  <a:schemeClr val="dk1"/>
                </a:solidFill>
              </a:rPr>
              <a:t>Omit NA values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lang="en" sz="1200">
                <a:solidFill>
                  <a:schemeClr val="dk1"/>
                </a:solidFill>
              </a:rPr>
              <a:t>df_scaled &lt;- scale(df) </a:t>
            </a:r>
            <a:r>
              <a:rPr b="1" lang="en" sz="1200">
                <a:solidFill>
                  <a:schemeClr val="dk1"/>
                </a:solidFill>
              </a:rPr>
              <a:t>#Scale data to standardized values</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lang="en" sz="1200">
                <a:solidFill>
                  <a:schemeClr val="dk1"/>
                </a:solidFill>
              </a:rPr>
              <a:t>set.seed(123) </a:t>
            </a:r>
            <a:r>
              <a:rPr b="1" lang="en" sz="1200">
                <a:solidFill>
                  <a:schemeClr val="dk1"/>
                </a:solidFill>
              </a:rPr>
              <a:t>#Set seed to fix the number of random variables to initialize the k-centroids</a:t>
            </a:r>
            <a:endParaRPr b="1"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km3 &lt;- kmeans(df_scaled, centers = 3, nstart = 25) </a:t>
            </a:r>
            <a:r>
              <a:rPr b="1" lang="en" sz="1200">
                <a:solidFill>
                  <a:schemeClr val="dk1"/>
                </a:solidFill>
              </a:rPr>
              <a:t>#3 k-means because the data set has 3 different species</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b="1" lang="en" sz="1200">
                <a:solidFill>
                  <a:schemeClr val="dk1"/>
                </a:solidFill>
              </a:rPr>
              <a:t>#Visualize clusters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fviz_cluster(</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km3,</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data = df_scaled,</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geom = "point",</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ellipse.type = "convex",</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main = "K-Means Clustering of Iris Dataset (k = 3)"</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b="1" lang="en" sz="1200">
                <a:solidFill>
                  <a:schemeClr val="dk1"/>
                </a:solidFill>
              </a:rPr>
              <a:t>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Use of the topic - Activity with IRIS data set from R studio</a:t>
            </a:r>
            <a:endParaRPr b="1" sz="1800">
              <a:solidFill>
                <a:schemeClr val="lt1"/>
              </a:solidFill>
            </a:endParaRPr>
          </a:p>
        </p:txBody>
      </p:sp>
      <p:pic>
        <p:nvPicPr>
          <p:cNvPr id="204" name="Google Shape;204;p29"/>
          <p:cNvPicPr preferRelativeResize="0"/>
          <p:nvPr/>
        </p:nvPicPr>
        <p:blipFill>
          <a:blip r:embed="rId3">
            <a:alphaModFix/>
          </a:blip>
          <a:stretch>
            <a:fillRect/>
          </a:stretch>
        </p:blipFill>
        <p:spPr>
          <a:xfrm>
            <a:off x="152425" y="823450"/>
            <a:ext cx="4419574" cy="3870118"/>
          </a:xfrm>
          <a:prstGeom prst="rect">
            <a:avLst/>
          </a:prstGeom>
          <a:noFill/>
          <a:ln>
            <a:noFill/>
          </a:ln>
        </p:spPr>
      </p:pic>
      <p:pic>
        <p:nvPicPr>
          <p:cNvPr id="205" name="Google Shape;205;p29"/>
          <p:cNvPicPr preferRelativeResize="0"/>
          <p:nvPr/>
        </p:nvPicPr>
        <p:blipFill rotWithShape="1">
          <a:blip r:embed="rId4">
            <a:alphaModFix/>
          </a:blip>
          <a:srcRect b="0" l="0" r="5989" t="0"/>
          <a:stretch/>
        </p:blipFill>
        <p:spPr>
          <a:xfrm>
            <a:off x="4610350" y="823450"/>
            <a:ext cx="4301199" cy="986725"/>
          </a:xfrm>
          <a:prstGeom prst="rect">
            <a:avLst/>
          </a:prstGeom>
          <a:noFill/>
          <a:ln>
            <a:noFill/>
          </a:ln>
        </p:spPr>
      </p:pic>
      <p:pic>
        <p:nvPicPr>
          <p:cNvPr id="206" name="Google Shape;206;p29"/>
          <p:cNvPicPr preferRelativeResize="0"/>
          <p:nvPr/>
        </p:nvPicPr>
        <p:blipFill rotWithShape="1">
          <a:blip r:embed="rId5">
            <a:alphaModFix/>
          </a:blip>
          <a:srcRect b="0" l="0" r="0" t="2515"/>
          <a:stretch/>
        </p:blipFill>
        <p:spPr>
          <a:xfrm>
            <a:off x="4610350" y="1895200"/>
            <a:ext cx="4054049" cy="1353125"/>
          </a:xfrm>
          <a:prstGeom prst="rect">
            <a:avLst/>
          </a:prstGeom>
          <a:noFill/>
          <a:ln>
            <a:noFill/>
          </a:ln>
        </p:spPr>
      </p:pic>
      <p:pic>
        <p:nvPicPr>
          <p:cNvPr id="207" name="Google Shape;207;p29"/>
          <p:cNvPicPr preferRelativeResize="0"/>
          <p:nvPr/>
        </p:nvPicPr>
        <p:blipFill>
          <a:blip r:embed="rId6">
            <a:alphaModFix/>
          </a:blip>
          <a:stretch>
            <a:fillRect/>
          </a:stretch>
        </p:blipFill>
        <p:spPr>
          <a:xfrm>
            <a:off x="4595396" y="3442196"/>
            <a:ext cx="4224250" cy="1251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rPr>
              <a:t>Use of the topic - Activity with IRIS data set from R studio</a:t>
            </a:r>
            <a:endParaRPr b="1" sz="1800">
              <a:solidFill>
                <a:schemeClr val="lt1"/>
              </a:solidFill>
            </a:endParaRPr>
          </a:p>
        </p:txBody>
      </p:sp>
      <p:sp>
        <p:nvSpPr>
          <p:cNvPr id="213" name="Google Shape;213;p30"/>
          <p:cNvSpPr txBox="1"/>
          <p:nvPr/>
        </p:nvSpPr>
        <p:spPr>
          <a:xfrm>
            <a:off x="172350" y="1000400"/>
            <a:ext cx="87993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#1. </a:t>
            </a:r>
            <a:r>
              <a:rPr b="1" lang="en" sz="1200"/>
              <a:t>Load data</a:t>
            </a:r>
            <a:endParaRPr b="1" sz="1200"/>
          </a:p>
          <a:p>
            <a:pPr indent="0" lvl="0" marL="0" rtl="0" algn="l">
              <a:spcBef>
                <a:spcPts val="0"/>
              </a:spcBef>
              <a:spcAft>
                <a:spcPts val="0"/>
              </a:spcAft>
              <a:buNone/>
            </a:pPr>
            <a:r>
              <a:rPr lang="en" sz="1200"/>
              <a:t>data &lt;- iris[, 1:4] 			</a:t>
            </a:r>
            <a:r>
              <a:rPr b="1" lang="en" sz="1200">
                <a:solidFill>
                  <a:schemeClr val="dk1"/>
                </a:solidFill>
              </a:rPr>
              <a:t>#Columns 1 to 4 for not loading the specie column (5)</a:t>
            </a:r>
            <a:endParaRPr b="1" sz="1200"/>
          </a:p>
          <a:p>
            <a:pPr indent="0" lvl="0" marL="0" rtl="0" algn="l">
              <a:spcBef>
                <a:spcPts val="0"/>
              </a:spcBef>
              <a:spcAft>
                <a:spcPts val="0"/>
              </a:spcAft>
              <a:buNone/>
            </a:pPr>
            <a:r>
              <a:rPr lang="en" sz="1200">
                <a:solidFill>
                  <a:schemeClr val="dk1"/>
                </a:solidFill>
              </a:rPr>
              <a:t>df &lt;- na.omit(df) 			#</a:t>
            </a:r>
            <a:r>
              <a:rPr b="1" lang="en" sz="1200">
                <a:solidFill>
                  <a:schemeClr val="dk1"/>
                </a:solidFill>
              </a:rPr>
              <a:t>Omit NA values</a:t>
            </a:r>
            <a:endParaRPr sz="1200"/>
          </a:p>
          <a:p>
            <a:pPr indent="0" lvl="0" marL="0" rtl="0" algn="l">
              <a:spcBef>
                <a:spcPts val="0"/>
              </a:spcBef>
              <a:spcAft>
                <a:spcPts val="0"/>
              </a:spcAft>
              <a:buNone/>
            </a:pPr>
            <a:r>
              <a:rPr lang="en" sz="1200"/>
              <a:t>scaled_data &lt;- scale(data) 	</a:t>
            </a:r>
            <a:r>
              <a:rPr b="1" lang="en" sz="1200">
                <a:solidFill>
                  <a:schemeClr val="dk1"/>
                </a:solidFill>
              </a:rPr>
              <a:t>#Scale data to standardized values</a:t>
            </a:r>
            <a:endParaRPr sz="1200"/>
          </a:p>
          <a:p>
            <a:pPr indent="0" lvl="0" marL="0" rtl="0" algn="l">
              <a:spcBef>
                <a:spcPts val="0"/>
              </a:spcBef>
              <a:spcAft>
                <a:spcPts val="0"/>
              </a:spcAft>
              <a:buNone/>
            </a:pPr>
            <a:r>
              <a:rPr lang="en" sz="1200"/>
              <a:t>set.seed(123)			</a:t>
            </a:r>
            <a:r>
              <a:rPr b="1" lang="en" sz="1200">
                <a:solidFill>
                  <a:schemeClr val="dk1"/>
                </a:solidFill>
              </a:rPr>
              <a:t>#Set seed to fix the number of random variables to initialize the k-centroids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b="1" lang="en" sz="1200"/>
              <a:t># 2. Calculate distances and build the hierarchy</a:t>
            </a:r>
            <a:endParaRPr b="1" sz="1200"/>
          </a:p>
          <a:p>
            <a:pPr indent="0" lvl="0" marL="0" rtl="0" algn="l">
              <a:spcBef>
                <a:spcPts val="0"/>
              </a:spcBef>
              <a:spcAft>
                <a:spcPts val="0"/>
              </a:spcAft>
              <a:buNone/>
            </a:pPr>
            <a:r>
              <a:rPr lang="en" sz="1200"/>
              <a:t>distance_matrix &lt;- dist(scaled_data, method = "euclidean")</a:t>
            </a:r>
            <a:endParaRPr sz="1200"/>
          </a:p>
          <a:p>
            <a:pPr indent="0" lvl="0" marL="0" rtl="0" algn="l">
              <a:spcBef>
                <a:spcPts val="0"/>
              </a:spcBef>
              <a:spcAft>
                <a:spcPts val="0"/>
              </a:spcAft>
              <a:buNone/>
            </a:pPr>
            <a:r>
              <a:rPr lang="en" sz="1200"/>
              <a:t>hc &lt;- hclust(distance_matrix, method = "ward.D2")</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 3. Plot the complete Dendrogram</a:t>
            </a:r>
            <a:endParaRPr b="1" sz="1200"/>
          </a:p>
          <a:p>
            <a:pPr indent="0" lvl="0" marL="0" rtl="0" algn="l">
              <a:spcBef>
                <a:spcPts val="0"/>
              </a:spcBef>
              <a:spcAft>
                <a:spcPts val="0"/>
              </a:spcAft>
              <a:buNone/>
            </a:pPr>
            <a:r>
              <a:rPr lang="en" sz="1200"/>
              <a:t>plot(hc, </a:t>
            </a:r>
            <a:endParaRPr sz="1200"/>
          </a:p>
          <a:p>
            <a:pPr indent="0" lvl="0" marL="0" rtl="0" algn="l">
              <a:spcBef>
                <a:spcPts val="0"/>
              </a:spcBef>
              <a:spcAft>
                <a:spcPts val="0"/>
              </a:spcAft>
              <a:buNone/>
            </a:pPr>
            <a:r>
              <a:rPr lang="en" sz="1200"/>
              <a:t>     main = "Hierarchical Clustering: Full Dendrogram", </a:t>
            </a:r>
            <a:endParaRPr sz="1200"/>
          </a:p>
          <a:p>
            <a:pPr indent="0" lvl="0" marL="0" rtl="0" algn="l">
              <a:spcBef>
                <a:spcPts val="0"/>
              </a:spcBef>
              <a:spcAft>
                <a:spcPts val="0"/>
              </a:spcAft>
              <a:buNone/>
            </a:pPr>
            <a:r>
              <a:rPr lang="en" sz="1200"/>
              <a:t>     xlab = "Data Points", </a:t>
            </a:r>
            <a:endParaRPr sz="1200"/>
          </a:p>
          <a:p>
            <a:pPr indent="0" lvl="0" marL="0" rtl="0" algn="l">
              <a:spcBef>
                <a:spcPts val="0"/>
              </a:spcBef>
              <a:spcAft>
                <a:spcPts val="0"/>
              </a:spcAft>
              <a:buNone/>
            </a:pPr>
            <a:r>
              <a:rPr lang="en" sz="1200"/>
              <a:t>     sub = "", </a:t>
            </a:r>
            <a:endParaRPr sz="1200"/>
          </a:p>
          <a:p>
            <a:pPr indent="0" lvl="0" marL="0" rtl="0" algn="l">
              <a:spcBef>
                <a:spcPts val="0"/>
              </a:spcBef>
              <a:spcAft>
                <a:spcPts val="0"/>
              </a:spcAft>
              <a:buNone/>
            </a:pPr>
            <a:r>
              <a:rPr lang="en" sz="1200"/>
              <a:t>     labels = FALSE)</a:t>
            </a:r>
            <a:endParaRPr sz="1200"/>
          </a:p>
          <a:p>
            <a:pPr indent="0" lvl="0" marL="0" rtl="0" algn="l">
              <a:spcBef>
                <a:spcPts val="0"/>
              </a:spcBef>
              <a:spcAft>
                <a:spcPts val="0"/>
              </a:spcAft>
              <a:buNone/>
            </a:pPr>
            <a:r>
              <a:t/>
            </a:r>
            <a:endParaRPr b="1"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rPr>
              <a:t>Use of the topic - Activity with IRIS data set from R studio</a:t>
            </a:r>
            <a:endParaRPr b="1" sz="1800">
              <a:solidFill>
                <a:schemeClr val="lt1"/>
              </a:solidFill>
            </a:endParaRPr>
          </a:p>
        </p:txBody>
      </p:sp>
      <p:pic>
        <p:nvPicPr>
          <p:cNvPr id="219" name="Google Shape;219;p31"/>
          <p:cNvPicPr preferRelativeResize="0"/>
          <p:nvPr/>
        </p:nvPicPr>
        <p:blipFill>
          <a:blip r:embed="rId3">
            <a:alphaModFix/>
          </a:blip>
          <a:stretch>
            <a:fillRect/>
          </a:stretch>
        </p:blipFill>
        <p:spPr>
          <a:xfrm>
            <a:off x="1784663" y="623975"/>
            <a:ext cx="5574685" cy="43769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Use of the topic - Activity with IRIS data set from R studio</a:t>
            </a:r>
            <a:endParaRPr b="1" sz="1800">
              <a:solidFill>
                <a:schemeClr val="lt1"/>
              </a:solidFill>
            </a:endParaRPr>
          </a:p>
        </p:txBody>
      </p:sp>
      <p:pic>
        <p:nvPicPr>
          <p:cNvPr id="225" name="Google Shape;225;p32"/>
          <p:cNvPicPr preferRelativeResize="0"/>
          <p:nvPr/>
        </p:nvPicPr>
        <p:blipFill>
          <a:blip r:embed="rId3">
            <a:alphaModFix/>
          </a:blip>
          <a:stretch>
            <a:fillRect/>
          </a:stretch>
        </p:blipFill>
        <p:spPr>
          <a:xfrm>
            <a:off x="105975" y="1093863"/>
            <a:ext cx="4314480" cy="3387550"/>
          </a:xfrm>
          <a:prstGeom prst="rect">
            <a:avLst/>
          </a:prstGeom>
          <a:noFill/>
          <a:ln>
            <a:noFill/>
          </a:ln>
        </p:spPr>
      </p:pic>
      <p:pic>
        <p:nvPicPr>
          <p:cNvPr id="226" name="Google Shape;226;p32"/>
          <p:cNvPicPr preferRelativeResize="0"/>
          <p:nvPr/>
        </p:nvPicPr>
        <p:blipFill>
          <a:blip r:embed="rId4">
            <a:alphaModFix/>
          </a:blip>
          <a:stretch>
            <a:fillRect/>
          </a:stretch>
        </p:blipFill>
        <p:spPr>
          <a:xfrm>
            <a:off x="4420450" y="987262"/>
            <a:ext cx="4586076" cy="3600775"/>
          </a:xfrm>
          <a:prstGeom prst="rect">
            <a:avLst/>
          </a:prstGeom>
          <a:noFill/>
          <a:ln>
            <a:noFill/>
          </a:ln>
        </p:spPr>
      </p:pic>
      <p:sp>
        <p:nvSpPr>
          <p:cNvPr id="227" name="Google Shape;227;p32"/>
          <p:cNvSpPr/>
          <p:nvPr/>
        </p:nvSpPr>
        <p:spPr>
          <a:xfrm>
            <a:off x="3082125" y="1869850"/>
            <a:ext cx="1224300" cy="39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Use of the topic - Activity with IRIS data set from R studio</a:t>
            </a:r>
            <a:endParaRPr b="1" sz="1800">
              <a:solidFill>
                <a:schemeClr val="lt1"/>
              </a:solidFill>
            </a:endParaRPr>
          </a:p>
        </p:txBody>
      </p:sp>
      <p:sp>
        <p:nvSpPr>
          <p:cNvPr id="233" name="Google Shape;233;p33"/>
          <p:cNvSpPr txBox="1"/>
          <p:nvPr/>
        </p:nvSpPr>
        <p:spPr>
          <a:xfrm>
            <a:off x="127000" y="577275"/>
            <a:ext cx="8929200" cy="44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Load data set in  R</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lang="en" sz="1200">
                <a:solidFill>
                  <a:schemeClr val="dk1"/>
                </a:solidFill>
              </a:rPr>
              <a:t>library(dbscan)</a:t>
            </a:r>
            <a:endParaRPr sz="1200">
              <a:solidFill>
                <a:schemeClr val="dk1"/>
              </a:solidFill>
            </a:endParaRPr>
          </a:p>
          <a:p>
            <a:pPr indent="0" lvl="0" marL="0" rtl="0" algn="l">
              <a:spcBef>
                <a:spcPts val="0"/>
              </a:spcBef>
              <a:spcAft>
                <a:spcPts val="0"/>
              </a:spcAft>
              <a:buNone/>
            </a:pPr>
            <a:r>
              <a:rPr lang="en" sz="1200">
                <a:solidFill>
                  <a:srgbClr val="FF0000"/>
                </a:solidFill>
              </a:rPr>
              <a:t>library(factoextra)</a:t>
            </a:r>
            <a:endParaRPr sz="1200">
              <a:solidFill>
                <a:srgbClr val="FF0000"/>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data &lt;- iris[, 1:4] </a:t>
            </a:r>
            <a:endParaRPr b="1"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scaled_data &lt;- scale(data)</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set.seed(123)</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db &lt;- dbscan(scaled_data, eps = 0.8, minPts = 5) </a:t>
            </a:r>
            <a:r>
              <a:rPr b="1" lang="en" sz="1200">
                <a:solidFill>
                  <a:schemeClr val="dk1"/>
                </a:solidFill>
              </a:rPr>
              <a:t>#DBScan function (note it does not require the number of clusters, as previous methods)</a:t>
            </a:r>
            <a:endParaRPr b="1"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print(db)</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fviz_cluster(db, data = scaled_data,</a:t>
            </a:r>
            <a:endParaRPr sz="1200">
              <a:solidFill>
                <a:schemeClr val="dk1"/>
              </a:solidFill>
            </a:endParaRPr>
          </a:p>
          <a:p>
            <a:pPr indent="0" lvl="0" marL="0" rtl="0" algn="l">
              <a:spcBef>
                <a:spcPts val="0"/>
              </a:spcBef>
              <a:spcAft>
                <a:spcPts val="0"/>
              </a:spcAft>
              <a:buNone/>
            </a:pPr>
            <a:r>
              <a:rPr lang="en" sz="1200">
                <a:solidFill>
                  <a:schemeClr val="dk1"/>
                </a:solidFill>
              </a:rPr>
              <a:t>             geom = "point",</a:t>
            </a:r>
            <a:endParaRPr sz="1200">
              <a:solidFill>
                <a:schemeClr val="dk1"/>
              </a:solidFill>
            </a:endParaRPr>
          </a:p>
          <a:p>
            <a:pPr indent="0" lvl="0" marL="0" rtl="0" algn="l">
              <a:spcBef>
                <a:spcPts val="0"/>
              </a:spcBef>
              <a:spcAft>
                <a:spcPts val="0"/>
              </a:spcAft>
              <a:buNone/>
            </a:pPr>
            <a:r>
              <a:rPr lang="en" sz="1200">
                <a:solidFill>
                  <a:schemeClr val="dk1"/>
                </a:solidFill>
              </a:rPr>
              <a:t>             main = "DBSCAN Clustering on Iris Dataset")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b="1" lang="en" sz="1200">
                <a:solidFill>
                  <a:schemeClr val="dk1"/>
                </a:solidFill>
              </a:rPr>
              <a:t>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Use of the topic - Activity with IRIS data set from R studio</a:t>
            </a:r>
            <a:endParaRPr b="1" sz="1800">
              <a:solidFill>
                <a:schemeClr val="lt1"/>
              </a:solidFill>
            </a:endParaRPr>
          </a:p>
        </p:txBody>
      </p:sp>
      <p:pic>
        <p:nvPicPr>
          <p:cNvPr id="239" name="Google Shape;239;p34"/>
          <p:cNvPicPr preferRelativeResize="0"/>
          <p:nvPr/>
        </p:nvPicPr>
        <p:blipFill>
          <a:blip r:embed="rId3">
            <a:alphaModFix/>
          </a:blip>
          <a:stretch>
            <a:fillRect/>
          </a:stretch>
        </p:blipFill>
        <p:spPr>
          <a:xfrm>
            <a:off x="1888275" y="623000"/>
            <a:ext cx="5227263" cy="43770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5"/>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Activity: Replicate three methods with cars data_set</a:t>
            </a:r>
            <a:endParaRPr b="1" sz="1800">
              <a:solidFill>
                <a:schemeClr val="lt1"/>
              </a:solidFill>
            </a:endParaRPr>
          </a:p>
        </p:txBody>
      </p:sp>
      <p:pic>
        <p:nvPicPr>
          <p:cNvPr id="245" name="Google Shape;245;p35"/>
          <p:cNvPicPr preferRelativeResize="0"/>
          <p:nvPr/>
        </p:nvPicPr>
        <p:blipFill>
          <a:blip r:embed="rId3">
            <a:alphaModFix/>
          </a:blip>
          <a:stretch>
            <a:fillRect/>
          </a:stretch>
        </p:blipFill>
        <p:spPr>
          <a:xfrm>
            <a:off x="4052449" y="754875"/>
            <a:ext cx="4647000" cy="4093800"/>
          </a:xfrm>
          <a:prstGeom prst="rect">
            <a:avLst/>
          </a:prstGeom>
          <a:noFill/>
          <a:ln>
            <a:noFill/>
          </a:ln>
        </p:spPr>
      </p:pic>
      <p:sp>
        <p:nvSpPr>
          <p:cNvPr id="246" name="Google Shape;246;p35"/>
          <p:cNvSpPr txBox="1"/>
          <p:nvPr/>
        </p:nvSpPr>
        <p:spPr>
          <a:xfrm>
            <a:off x="204750" y="683175"/>
            <a:ext cx="3792300" cy="40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Data set extracted from </a:t>
            </a:r>
            <a:r>
              <a:rPr i="1" lang="en" sz="1200">
                <a:solidFill>
                  <a:schemeClr val="dk1"/>
                </a:solidFill>
              </a:rPr>
              <a:t>1974 Motor Trend US Magazine </a:t>
            </a:r>
            <a:r>
              <a:rPr lang="en" sz="1200">
                <a:solidFill>
                  <a:schemeClr val="dk1"/>
                </a:solidFill>
              </a:rPr>
              <a:t>which describes 10 performance features of 32 vintage automobile models (1973-1974)</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500">
                <a:solidFill>
                  <a:schemeClr val="dk1"/>
                </a:solidFill>
              </a:rPr>
              <a:t>Load Data_SET</a:t>
            </a:r>
            <a:endParaRPr b="1" sz="1500">
              <a:solidFill>
                <a:schemeClr val="dk1"/>
              </a:solidFill>
            </a:endParaRPr>
          </a:p>
          <a:p>
            <a:pPr indent="0" lvl="0" marL="0" rtl="0" algn="l">
              <a:spcBef>
                <a:spcPts val="0"/>
              </a:spcBef>
              <a:spcAft>
                <a:spcPts val="0"/>
              </a:spcAft>
              <a:buNone/>
            </a:pPr>
            <a:r>
              <a:t/>
            </a:r>
            <a:endParaRPr b="1"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df &lt;- mtcars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df &lt;- na.omit(df)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df_scaled &lt;- scale(df)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200">
                <a:solidFill>
                  <a:schemeClr val="dk1"/>
                </a:solidFill>
              </a:rPr>
              <a:t>Repeat three methods of clustering with mtcars data_set</a:t>
            </a:r>
            <a:endParaRPr b="1" sz="12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nvSpPr>
        <p:spPr>
          <a:xfrm>
            <a:off x="0" y="0"/>
            <a:ext cx="9144000" cy="4617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rPr>
              <a:t>Activity: Replicate three methods with cars data_set</a:t>
            </a:r>
            <a:endParaRPr b="1" sz="1800">
              <a:solidFill>
                <a:schemeClr val="lt1"/>
              </a:solidFill>
            </a:endParaRPr>
          </a:p>
        </p:txBody>
      </p:sp>
      <p:pic>
        <p:nvPicPr>
          <p:cNvPr id="252" name="Google Shape;252;p36"/>
          <p:cNvPicPr preferRelativeResize="0"/>
          <p:nvPr/>
        </p:nvPicPr>
        <p:blipFill>
          <a:blip r:embed="rId3">
            <a:alphaModFix/>
          </a:blip>
          <a:stretch>
            <a:fillRect/>
          </a:stretch>
        </p:blipFill>
        <p:spPr>
          <a:xfrm>
            <a:off x="357150" y="640800"/>
            <a:ext cx="2466649" cy="2273675"/>
          </a:xfrm>
          <a:prstGeom prst="rect">
            <a:avLst/>
          </a:prstGeom>
          <a:noFill/>
          <a:ln>
            <a:noFill/>
          </a:ln>
        </p:spPr>
      </p:pic>
      <p:pic>
        <p:nvPicPr>
          <p:cNvPr id="253" name="Google Shape;253;p36"/>
          <p:cNvPicPr preferRelativeResize="0"/>
          <p:nvPr/>
        </p:nvPicPr>
        <p:blipFill>
          <a:blip r:embed="rId4">
            <a:alphaModFix/>
          </a:blip>
          <a:stretch>
            <a:fillRect/>
          </a:stretch>
        </p:blipFill>
        <p:spPr>
          <a:xfrm>
            <a:off x="3144150" y="747123"/>
            <a:ext cx="2677119" cy="2225675"/>
          </a:xfrm>
          <a:prstGeom prst="rect">
            <a:avLst/>
          </a:prstGeom>
          <a:noFill/>
          <a:ln>
            <a:noFill/>
          </a:ln>
        </p:spPr>
      </p:pic>
      <p:pic>
        <p:nvPicPr>
          <p:cNvPr id="254" name="Google Shape;254;p36"/>
          <p:cNvPicPr preferRelativeResize="0"/>
          <p:nvPr/>
        </p:nvPicPr>
        <p:blipFill>
          <a:blip r:embed="rId5">
            <a:alphaModFix/>
          </a:blip>
          <a:stretch>
            <a:fillRect/>
          </a:stretch>
        </p:blipFill>
        <p:spPr>
          <a:xfrm>
            <a:off x="6179675" y="614100"/>
            <a:ext cx="2731799" cy="2491725"/>
          </a:xfrm>
          <a:prstGeom prst="rect">
            <a:avLst/>
          </a:prstGeom>
          <a:noFill/>
          <a:ln>
            <a:noFill/>
          </a:ln>
        </p:spPr>
      </p:pic>
      <p:pic>
        <p:nvPicPr>
          <p:cNvPr id="255" name="Google Shape;255;p36"/>
          <p:cNvPicPr preferRelativeResize="0"/>
          <p:nvPr/>
        </p:nvPicPr>
        <p:blipFill>
          <a:blip r:embed="rId6">
            <a:alphaModFix/>
          </a:blip>
          <a:stretch>
            <a:fillRect/>
          </a:stretch>
        </p:blipFill>
        <p:spPr>
          <a:xfrm>
            <a:off x="3144150" y="2826500"/>
            <a:ext cx="2677125" cy="219982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7"/>
          <p:cNvSpPr txBox="1"/>
          <p:nvPr/>
        </p:nvSpPr>
        <p:spPr>
          <a:xfrm>
            <a:off x="0" y="0"/>
            <a:ext cx="9144000" cy="400200"/>
          </a:xfrm>
          <a:prstGeom prst="rect">
            <a:avLst/>
          </a:prstGeom>
          <a:solidFill>
            <a:srgbClr val="0B539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REFERENCES</a:t>
            </a:r>
            <a:endParaRPr b="1">
              <a:solidFill>
                <a:schemeClr val="lt1"/>
              </a:solidFill>
            </a:endParaRPr>
          </a:p>
        </p:txBody>
      </p:sp>
      <p:sp>
        <p:nvSpPr>
          <p:cNvPr id="261" name="Google Shape;261;p37"/>
          <p:cNvSpPr txBox="1"/>
          <p:nvPr/>
        </p:nvSpPr>
        <p:spPr>
          <a:xfrm>
            <a:off x="563200" y="739900"/>
            <a:ext cx="8337900" cy="9852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AutoNum type="arabicPeriod"/>
            </a:pPr>
            <a:r>
              <a:rPr lang="en" sz="1300">
                <a:solidFill>
                  <a:schemeClr val="dk1"/>
                </a:solidFill>
              </a:rPr>
              <a:t>Han, J., Kamber, M., &amp; Pei, J. (2012). </a:t>
            </a:r>
            <a:r>
              <a:rPr i="1" lang="en" sz="1300">
                <a:solidFill>
                  <a:schemeClr val="dk1"/>
                </a:solidFill>
              </a:rPr>
              <a:t>Data mining: Concepts and Techniques</a:t>
            </a:r>
            <a:r>
              <a:rPr lang="en" sz="1300">
                <a:solidFill>
                  <a:schemeClr val="dk1"/>
                </a:solidFill>
              </a:rPr>
              <a:t>, Waltham: Morgan Kaufmann Publishers, 2012-13.</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 sz="1300">
                <a:solidFill>
                  <a:schemeClr val="dk1"/>
                </a:solidFill>
              </a:rPr>
              <a:t>Bioinformatics Crash Course. (2020). </a:t>
            </a:r>
            <a:r>
              <a:rPr i="1" lang="en" sz="1300">
                <a:solidFill>
                  <a:schemeClr val="dk1"/>
                </a:solidFill>
              </a:rPr>
              <a:t>Lesson 9: Clustering. Bioinformatics Crash Course 1.0 Documentation</a:t>
            </a:r>
            <a:r>
              <a:rPr lang="en" sz="1300">
                <a:solidFill>
                  <a:schemeClr val="dk1"/>
                </a:solidFill>
              </a:rPr>
              <a:t>. https://www.bioinformaticscrashcourse.com/9.1_Clustering.html#clustering-data</a:t>
            </a:r>
            <a:endParaRPr sz="1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