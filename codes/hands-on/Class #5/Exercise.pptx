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8AB6B8BB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B3B174-CEC9-674A-2025-7B1106DD6EA1}" name="Alejandro Martinez Hernandez" initials="AM" userId="S::marta0a@KAUST.EDU.SA::8fe3c3a7-9a98-4fd3-aada-21a4c29024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648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0_8AB6B8B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821782-C799-45FB-A59F-9652E49EE6D6}" authorId="{FDB3B174-CEC9-674A-2025-7B1106DD6EA1}" created="2026-07-19T05:18:48.10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27230651" sldId="256"/>
      <ac:picMk id="21" creationId="{81A42FC3-500A-864B-B89F-C8037C1C60DA}"/>
    </ac:deMkLst>
    <p188:txBody>
      <a:bodyPr/>
      <a:lstStyle/>
      <a:p>
        <a:r>
          <a:rPr lang="en-US"/>
          <a:t>The dots are fairly scattered, though the Acute Infection (green circles) cluster a bit distinctly toward the top right.</a:t>
        </a:r>
      </a:p>
    </p188:txBody>
  </p188:cm>
  <p188:cm id="{B252EA33-E23B-4796-A00A-4783C4774046}" authorId="{FDB3B174-CEC9-674A-2025-7B1106DD6EA1}" created="2026-07-19T05:21:38.2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27230651" sldId="256"/>
      <ac:picMk id="17" creationId="{F12A55DC-1DEF-5A2E-38B0-F39325E3156B}"/>
    </ac:deMkLst>
    <p188:txBody>
      <a:bodyPr/>
      <a:lstStyle/>
      <a:p>
        <a:r>
          <a:rPr lang="en-US"/>
          <a:t>the sequencer read the RNA deeply enough to capture all the genes.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A9700-C4FB-0069-DA39-919058CE2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9348D-FEB4-B008-BCEA-366D2D4CE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825DE-D874-98F7-2302-C4EFFA4E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874B-54D1-405A-88D4-FD6EA068D0C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05066-6B7E-109D-78D7-C575477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5DA01-1083-89A8-2660-6B1FC426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DF4-AE4D-46E4-81E6-295D0EF75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152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BE1C-C34E-6A6A-BB37-62DAF8C89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4E111-4FFD-B8A5-560A-10487BED7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B51B0-5D38-5454-C140-B09C1BEE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874B-54D1-405A-88D4-FD6EA068D0C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B4B0A-A4C4-A181-5EAB-61F0A4404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5A26E-92A9-E009-0283-03FC992A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DF4-AE4D-46E4-81E6-295D0EF75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2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4BCF0-2C33-9165-4A58-E57D88139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0F385-F993-DAA0-6C7E-DB3A75D80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070A0-BDD9-7601-23C1-51E909DF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874B-54D1-405A-88D4-FD6EA068D0C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584B5-6B62-AA83-F738-CB076546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65C29-F5FF-6306-742C-D4424ABF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DF4-AE4D-46E4-81E6-295D0EF75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3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B156B-513C-8979-8FF6-FAE73EE01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CA9B1-FA0A-DEAB-FE54-C68C3F095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4536F6-040F-E57E-F867-0513D9C6C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66800-23D4-A21E-9D2F-69AC4DF2E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874B-54D1-405A-88D4-FD6EA068D0C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FC894-261F-FD32-5425-ECCDA7687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C8656-4C43-52FE-D421-5F7343AC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DF4-AE4D-46E4-81E6-295D0EF75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44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0AE5A-6C53-8B69-6022-4F3FDE07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A160E-39BB-8FE6-EBDC-318F0A467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6D231-B315-14B1-A7A1-D5E3823DD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6D8041-B175-D9CF-A38B-D8B346905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78058-5362-5C6F-414C-8776C34E06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1C082C-52AC-3180-FF22-050689D65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874B-54D1-405A-88D4-FD6EA068D0C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CB6B51-E04B-B246-C159-1C5B923B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62C70A-50E5-7A3D-9099-B341ECC09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DF4-AE4D-46E4-81E6-295D0EF75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3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87EC-84E4-5D0F-0363-0CF4B4F0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E2B7A-7B33-FF7E-73CD-911BC59E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874B-54D1-405A-88D4-FD6EA068D0C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C738A-FE86-C919-0C73-D2B38344F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8324B2-9D5F-89FD-D41C-248CB31A5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DF4-AE4D-46E4-81E6-295D0EF75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4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538DCE-A7EE-FBA6-4029-BAE5453C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874B-54D1-405A-88D4-FD6EA068D0C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9C9C8A-D56C-B676-32D6-C489F7ED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22783-9DFE-EB47-6E05-E92B7B06B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DF4-AE4D-46E4-81E6-295D0EF75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65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D2584-E67A-8F2C-AB36-EDD49A52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8283C-397B-5B0E-436B-70FD1719A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38BBDA-8882-A228-063A-9491E119B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0B820-F43D-476D-7738-65C404BAC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874B-54D1-405A-88D4-FD6EA068D0C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D0364-F677-BAA1-E0AE-27EAD6FB8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040B4-6640-EEA1-F2B4-28AAA2DE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DF4-AE4D-46E4-81E6-295D0EF75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46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AAB38-46C8-A29D-1F31-9968623EC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89EA55-60D0-4F3A-7635-2D6BF2D02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29F1D-4B17-5A3D-FA59-49BBD957F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C5194-3B38-0B0B-725E-3715F2491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874B-54D1-405A-88D4-FD6EA068D0C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951B0-F5B2-DF40-05BB-BC7E88EA3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0D887-9808-C134-7A26-C545D562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DF4-AE4D-46E4-81E6-295D0EF75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51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621B-E598-A495-3F92-277162D0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60C7A-5940-83B7-FF8D-26B96F8B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F1688-48B1-135E-C9E2-0B623D70A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874B-54D1-405A-88D4-FD6EA068D0C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50406-2F72-63A6-83AF-8801247C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F430B-C2D9-AE45-F622-BBAB631B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DF4-AE4D-46E4-81E6-295D0EF75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36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7B21D-1280-4F80-439B-0DBA03001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3C5149-EAD0-BEDA-5A3B-4E5AE6681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C3336-A49F-05D4-3F03-14C338F2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874B-54D1-405A-88D4-FD6EA068D0C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B0FEC-A303-4EE9-F65E-08D81174C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6A21C-9DF3-98B9-67D2-4D2477B9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DF4-AE4D-46E4-81E6-295D0EF75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4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2029-BCAF-2019-9D77-13286E298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BBDCE-FF51-BEF4-8115-9D3C94BD3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67932-809D-03D5-8F67-E6EE3993E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C874B-54D1-405A-88D4-FD6EA068D0C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31943-F0FC-402F-0919-B6095090B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4EFCC-D17D-361F-DE58-EEA212053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80DF4-AE4D-46E4-81E6-295D0EF75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2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8AB6B8BB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CDA085-D45F-A8AE-340A-9A6A88222ED1}"/>
              </a:ext>
            </a:extLst>
          </p:cNvPr>
          <p:cNvSpPr txBox="1"/>
          <p:nvPr/>
        </p:nvSpPr>
        <p:spPr>
          <a:xfrm>
            <a:off x="294589" y="94234"/>
            <a:ext cx="118188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Quality Control (QC):</a:t>
            </a:r>
          </a:p>
          <a:p>
            <a:pPr algn="ctr"/>
            <a:r>
              <a:rPr lang="en-US" sz="1400" dirty="0"/>
              <a:t>Prove the data is of good technical quality      |  Show how the samples group together biologically.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2F59E5-4CE5-D6BE-04E9-D33FB3C6714F}"/>
              </a:ext>
            </a:extLst>
          </p:cNvPr>
          <p:cNvSpPr txBox="1"/>
          <p:nvPr/>
        </p:nvSpPr>
        <p:spPr>
          <a:xfrm>
            <a:off x="294589" y="652771"/>
            <a:ext cx="3947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Sample Clustering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44A49-77F9-2748-6685-6AE82A0B6C25}"/>
              </a:ext>
            </a:extLst>
          </p:cNvPr>
          <p:cNvSpPr txBox="1"/>
          <p:nvPr/>
        </p:nvSpPr>
        <p:spPr>
          <a:xfrm>
            <a:off x="6791642" y="652771"/>
            <a:ext cx="4706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2. The Saturation Plot (Sequencing Depth)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9B1FE3-7B07-F85A-858B-5C2C31C440E2}"/>
              </a:ext>
            </a:extLst>
          </p:cNvPr>
          <p:cNvSpPr txBox="1"/>
          <p:nvPr/>
        </p:nvSpPr>
        <p:spPr>
          <a:xfrm>
            <a:off x="294589" y="3538921"/>
            <a:ext cx="633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The Bias Plots (Technical Artifacts)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12A55DC-1DEF-5A2E-38B0-F39325E315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8" b="13193"/>
          <a:stretch>
            <a:fillRect/>
          </a:stretch>
        </p:blipFill>
        <p:spPr>
          <a:xfrm>
            <a:off x="6931059" y="1003682"/>
            <a:ext cx="4004033" cy="26166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1A42FC3-500A-864B-B89F-C8037C1C60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3" b="15432"/>
          <a:stretch>
            <a:fillRect/>
          </a:stretch>
        </p:blipFill>
        <p:spPr>
          <a:xfrm>
            <a:off x="942878" y="1003682"/>
            <a:ext cx="4706284" cy="253523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4EEA0A5-6707-AA1D-CFB5-26B2013660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454"/>
          <a:stretch>
            <a:fillRect/>
          </a:stretch>
        </p:blipFill>
        <p:spPr>
          <a:xfrm>
            <a:off x="370787" y="3864428"/>
            <a:ext cx="4842236" cy="296529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8A0366F-A5A0-D3EE-5154-00966E924FAA}"/>
              </a:ext>
            </a:extLst>
          </p:cNvPr>
          <p:cNvSpPr txBox="1"/>
          <p:nvPr/>
        </p:nvSpPr>
        <p:spPr>
          <a:xfrm>
            <a:off x="6327743" y="4399490"/>
            <a:ext cx="52860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Samples do not form isolated clusters based on their disease state. 'COVID-19 signal' is weak</a:t>
            </a:r>
          </a:p>
          <a:p>
            <a:pPr marL="342900" indent="-342900">
              <a:buAutoNum type="arabicPeriod"/>
            </a:pPr>
            <a:r>
              <a:rPr lang="en-US" dirty="0"/>
              <a:t>Curves are beginning to plateau but haven't completely flattened. Normalization needed.</a:t>
            </a:r>
          </a:p>
          <a:p>
            <a:pPr marL="342900" indent="-342900">
              <a:buAutoNum type="arabicPeriod"/>
            </a:pPr>
            <a:r>
              <a:rPr lang="en-US" dirty="0"/>
              <a:t>Bias is affecting all samples equally.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2306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56CBCB-FED1-7050-60FC-1E7603912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61" y="1216271"/>
            <a:ext cx="4352420" cy="34173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663BA8-A823-B5E0-B382-1CA5AE02CD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415" b="15900"/>
          <a:stretch>
            <a:fillRect/>
          </a:stretch>
        </p:blipFill>
        <p:spPr>
          <a:xfrm>
            <a:off x="681379" y="1520858"/>
            <a:ext cx="5284114" cy="28081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F283DD-BEC1-0984-E976-5EAB8BB338C4}"/>
              </a:ext>
            </a:extLst>
          </p:cNvPr>
          <p:cNvSpPr txBox="1"/>
          <p:nvPr/>
        </p:nvSpPr>
        <p:spPr>
          <a:xfrm>
            <a:off x="934825" y="71495"/>
            <a:ext cx="10322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Differential Expression (DESeq2):</a:t>
            </a:r>
            <a:r>
              <a:rPr lang="en-US" sz="1400" dirty="0"/>
              <a:t> </a:t>
            </a:r>
          </a:p>
          <a:p>
            <a:pPr algn="ctr"/>
            <a:r>
              <a:rPr lang="en-US" sz="1400" dirty="0"/>
              <a:t>Identify significant gene expression changes | Visualize overarching biological patterns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80AEDE-1D01-13BD-4500-D42A226DE6AE}"/>
              </a:ext>
            </a:extLst>
          </p:cNvPr>
          <p:cNvSpPr txBox="1"/>
          <p:nvPr/>
        </p:nvSpPr>
        <p:spPr>
          <a:xfrm>
            <a:off x="408197" y="72836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1. The DESeq2 PCA Plot (Sample Clustering)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5B9058-D5F8-43D3-B701-0C4057EC3DD4}"/>
              </a:ext>
            </a:extLst>
          </p:cNvPr>
          <p:cNvSpPr txBox="1"/>
          <p:nvPr/>
        </p:nvSpPr>
        <p:spPr>
          <a:xfrm>
            <a:off x="6685961" y="72082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The Heatmap (Top 20 Genes)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E51D80-A5C7-C5D9-3E6C-B77DA4A7480B}"/>
              </a:ext>
            </a:extLst>
          </p:cNvPr>
          <p:cNvSpPr txBox="1"/>
          <p:nvPr/>
        </p:nvSpPr>
        <p:spPr>
          <a:xfrm>
            <a:off x="804422" y="4936844"/>
            <a:ext cx="63913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dirty="0"/>
              <a:t>PCA reveals a much clearer biological trajectory. We can observe distinct separation between the Healthy baseline cohort and the Acute Infection group along Principal Component 1.</a:t>
            </a:r>
          </a:p>
          <a:p>
            <a:pPr marL="228600" indent="-228600">
              <a:buAutoNum type="arabicPeriod"/>
            </a:pPr>
            <a:r>
              <a:rPr lang="en-US" sz="1200" dirty="0"/>
              <a:t>We do not observe uniform blocks of expression segregating purely by disease state among these highly abundant genes. </a:t>
            </a:r>
          </a:p>
          <a:p>
            <a:pPr marL="228600" indent="-228600">
              <a:buAutoNum type="arabicPeriod"/>
            </a:pPr>
            <a:r>
              <a:rPr lang="en-US" sz="1200" dirty="0"/>
              <a:t>Not uniform "disease signature”</a:t>
            </a:r>
          </a:p>
          <a:p>
            <a:pPr marL="228600" indent="-228600"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78371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168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Martinez Hernandez</dc:creator>
  <cp:lastModifiedBy>Alejandro Martinez Hernandez</cp:lastModifiedBy>
  <cp:revision>4</cp:revision>
  <dcterms:created xsi:type="dcterms:W3CDTF">2026-07-18T21:19:24Z</dcterms:created>
  <dcterms:modified xsi:type="dcterms:W3CDTF">2026-07-19T06:12:41Z</dcterms:modified>
</cp:coreProperties>
</file>